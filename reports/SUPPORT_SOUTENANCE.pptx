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5688d3987943b6" /><Relationship Type="http://schemas.openxmlformats.org/officeDocument/2006/relationships/extended-properties" Target="/docProps/app.xml" Id="R3f79d4608e9b4976" /><Relationship Type="http://schemas.openxmlformats.org/officeDocument/2006/relationships/officeDocument" Target="/ppt/presentation.xml" Id="R0fd6feaa09814c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13af8214bf4b49"/>
  </p:sldMasterIdLst>
  <p:notesMasterIdLst>
    <p:notesMasterId xmlns:r="http://schemas.openxmlformats.org/officeDocument/2006/relationships" r:id="R04c9eb37dfa04606"/>
  </p:notesMasterIdLst>
  <p:sldIdLst>
    <p:sldId xmlns:r="http://schemas.openxmlformats.org/officeDocument/2006/relationships" id="256" r:id="Rf13875fca1394755"/>
    <p:sldId xmlns:r="http://schemas.openxmlformats.org/officeDocument/2006/relationships" id="257" r:id="R990b6b364a484a59"/>
    <p:sldId xmlns:r="http://schemas.openxmlformats.org/officeDocument/2006/relationships" id="258" r:id="Re920494198754b99"/>
    <p:sldId xmlns:r="http://schemas.openxmlformats.org/officeDocument/2006/relationships" id="259" r:id="R1f95fcad121c496d"/>
    <p:sldId xmlns:r="http://schemas.openxmlformats.org/officeDocument/2006/relationships" id="260" r:id="R2f442899c08f418e"/>
    <p:sldId xmlns:r="http://schemas.openxmlformats.org/officeDocument/2006/relationships" id="261" r:id="R3a78991d277f4241"/>
    <p:sldId xmlns:r="http://schemas.openxmlformats.org/officeDocument/2006/relationships" id="262" r:id="R57b87e67be264cae"/>
    <p:sldId xmlns:r="http://schemas.openxmlformats.org/officeDocument/2006/relationships" id="263" r:id="Rc93f1bf8ab4f43fb"/>
    <p:sldId xmlns:r="http://schemas.openxmlformats.org/officeDocument/2006/relationships" id="264" r:id="R1f5a5beea0e8440d"/>
    <p:sldId xmlns:r="http://schemas.openxmlformats.org/officeDocument/2006/relationships" id="265" r:id="Rc2fa8d66acab4861"/>
    <p:sldId xmlns:r="http://schemas.openxmlformats.org/officeDocument/2006/relationships" id="266" r:id="R5fa5bdc153374708"/>
    <p:sldId xmlns:r="http://schemas.openxmlformats.org/officeDocument/2006/relationships" id="267" r:id="R261f6b298d254450"/>
    <p:sldId xmlns:r="http://schemas.openxmlformats.org/officeDocument/2006/relationships" id="268" r:id="Rfa6be0c32e6d4b91"/>
    <p:sldId xmlns:r="http://schemas.openxmlformats.org/officeDocument/2006/relationships" id="269" r:id="R994c1990c3ed46ca"/>
    <p:sldId xmlns:r="http://schemas.openxmlformats.org/officeDocument/2006/relationships" id="270" r:id="R626870adfcd74752"/>
    <p:sldId xmlns:r="http://schemas.openxmlformats.org/officeDocument/2006/relationships" id="271" r:id="R29fdf0e6ade04547"/>
    <p:sldId xmlns:r="http://schemas.openxmlformats.org/officeDocument/2006/relationships" id="272" r:id="Rd6176ce85a5e4d3e"/>
    <p:sldId xmlns:r="http://schemas.openxmlformats.org/officeDocument/2006/relationships" id="273" r:id="R04f6333517bc4325"/>
    <p:sldId xmlns:r="http://schemas.openxmlformats.org/officeDocument/2006/relationships" id="274" r:id="R90578fb22b924d3f"/>
    <p:sldId xmlns:r="http://schemas.openxmlformats.org/officeDocument/2006/relationships" id="275" r:id="R2df71844940d43dc"/>
    <p:sldId xmlns:r="http://schemas.openxmlformats.org/officeDocument/2006/relationships" id="276" r:id="Rc607880feaae47c6"/>
    <p:sldId xmlns:r="http://schemas.openxmlformats.org/officeDocument/2006/relationships" id="277" r:id="R4ad1d8f97fc74e16"/>
    <p:sldId xmlns:r="http://schemas.openxmlformats.org/officeDocument/2006/relationships" id="278" r:id="R154dd6e28eb34f6d"/>
    <p:sldId xmlns:r="http://schemas.openxmlformats.org/officeDocument/2006/relationships" id="279" r:id="R31bd3bb5ab504ffc"/>
    <p:sldId xmlns:r="http://schemas.openxmlformats.org/officeDocument/2006/relationships" id="280" r:id="R0bcf649aa0c44601"/>
    <p:sldId xmlns:r="http://schemas.openxmlformats.org/officeDocument/2006/relationships" id="281" r:id="Re73aa3a9a7c44610"/>
    <p:sldId xmlns:r="http://schemas.openxmlformats.org/officeDocument/2006/relationships" id="282" r:id="Ra9c6510cd27249b1"/>
    <p:sldId xmlns:r="http://schemas.openxmlformats.org/officeDocument/2006/relationships" id="283" r:id="R6857903624164050"/>
    <p:sldId xmlns:r="http://schemas.openxmlformats.org/officeDocument/2006/relationships" id="284" r:id="R3b877b09f428408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2cb94f85d64d99" /><Relationship Type="http://schemas.openxmlformats.org/officeDocument/2006/relationships/slideMaster" Target="/ppt/slideMasters/slideMaster1.xml" Id="R0913af8214bf4b49" /><Relationship Type="http://schemas.openxmlformats.org/officeDocument/2006/relationships/notesMaster" Target="/ppt/notesMasters/notesMaster1.xml" Id="R04c9eb37dfa04606" /><Relationship Type="http://schemas.openxmlformats.org/officeDocument/2006/relationships/presProps" Target="/ppt/presProps.xml" Id="R8cf95283e30742b7" /><Relationship Type="http://schemas.openxmlformats.org/officeDocument/2006/relationships/tableStyles" Target="/ppt/tableStyles.xml" Id="R9475402585804fe8" /><Relationship Type="http://schemas.openxmlformats.org/officeDocument/2006/relationships/slide" Target="/ppt/slides/slide1.xml" Id="Rf13875fca1394755" /><Relationship Type="http://schemas.openxmlformats.org/officeDocument/2006/relationships/slide" Target="/ppt/slides/slide2.xml" Id="R990b6b364a484a59" /><Relationship Type="http://schemas.openxmlformats.org/officeDocument/2006/relationships/slide" Target="/ppt/slides/slide3.xml" Id="Re920494198754b99" /><Relationship Type="http://schemas.openxmlformats.org/officeDocument/2006/relationships/slide" Target="/ppt/slides/slide4.xml" Id="R1f95fcad121c496d" /><Relationship Type="http://schemas.openxmlformats.org/officeDocument/2006/relationships/slide" Target="/ppt/slides/slide5.xml" Id="R2f442899c08f418e" /><Relationship Type="http://schemas.openxmlformats.org/officeDocument/2006/relationships/slide" Target="/ppt/slides/slide6.xml" Id="R3a78991d277f4241" /><Relationship Type="http://schemas.openxmlformats.org/officeDocument/2006/relationships/slide" Target="/ppt/slides/slide7.xml" Id="R57b87e67be264cae" /><Relationship Type="http://schemas.openxmlformats.org/officeDocument/2006/relationships/slide" Target="/ppt/slides/slide8.xml" Id="Rc93f1bf8ab4f43fb" /><Relationship Type="http://schemas.openxmlformats.org/officeDocument/2006/relationships/slide" Target="/ppt/slides/slide9.xml" Id="R1f5a5beea0e8440d" /><Relationship Type="http://schemas.openxmlformats.org/officeDocument/2006/relationships/slide" Target="/ppt/slides/slide10.xml" Id="Rc2fa8d66acab4861" /><Relationship Type="http://schemas.openxmlformats.org/officeDocument/2006/relationships/slide" Target="/ppt/slides/slide11.xml" Id="R5fa5bdc153374708" /><Relationship Type="http://schemas.openxmlformats.org/officeDocument/2006/relationships/slide" Target="/ppt/slides/slide12.xml" Id="R261f6b298d254450" /><Relationship Type="http://schemas.openxmlformats.org/officeDocument/2006/relationships/slide" Target="/ppt/slides/slide13.xml" Id="Rfa6be0c32e6d4b91" /><Relationship Type="http://schemas.openxmlformats.org/officeDocument/2006/relationships/slide" Target="/ppt/slides/slide14.xml" Id="R994c1990c3ed46ca" /><Relationship Type="http://schemas.openxmlformats.org/officeDocument/2006/relationships/slide" Target="/ppt/slides/slide15.xml" Id="R626870adfcd74752" /><Relationship Type="http://schemas.openxmlformats.org/officeDocument/2006/relationships/slide" Target="/ppt/slides/slide16.xml" Id="R29fdf0e6ade04547" /><Relationship Type="http://schemas.openxmlformats.org/officeDocument/2006/relationships/slide" Target="/ppt/slides/slide17.xml" Id="Rd6176ce85a5e4d3e" /><Relationship Type="http://schemas.openxmlformats.org/officeDocument/2006/relationships/slide" Target="/ppt/slides/slide18.xml" Id="R04f6333517bc4325" /><Relationship Type="http://schemas.openxmlformats.org/officeDocument/2006/relationships/slide" Target="/ppt/slides/slide19.xml" Id="R90578fb22b924d3f" /><Relationship Type="http://schemas.openxmlformats.org/officeDocument/2006/relationships/slide" Target="/ppt/slides/slide20.xml" Id="R2df71844940d43dc" /><Relationship Type="http://schemas.openxmlformats.org/officeDocument/2006/relationships/slide" Target="/ppt/slides/slide21.xml" Id="Rc607880feaae47c6" /><Relationship Type="http://schemas.openxmlformats.org/officeDocument/2006/relationships/slide" Target="/ppt/slides/slide22.xml" Id="R4ad1d8f97fc74e16" /><Relationship Type="http://schemas.openxmlformats.org/officeDocument/2006/relationships/slide" Target="/ppt/slides/slide23.xml" Id="R154dd6e28eb34f6d" /><Relationship Type="http://schemas.openxmlformats.org/officeDocument/2006/relationships/slide" Target="/ppt/slides/slide24.xml" Id="R31bd3bb5ab504ffc" /><Relationship Type="http://schemas.openxmlformats.org/officeDocument/2006/relationships/slide" Target="/ppt/slides/slide25.xml" Id="R0bcf649aa0c44601" /><Relationship Type="http://schemas.openxmlformats.org/officeDocument/2006/relationships/slide" Target="/ppt/slides/slide26.xml" Id="Re73aa3a9a7c44610" /><Relationship Type="http://schemas.openxmlformats.org/officeDocument/2006/relationships/slide" Target="/ppt/slides/slide27.xml" Id="Ra9c6510cd27249b1" /><Relationship Type="http://schemas.openxmlformats.org/officeDocument/2006/relationships/slide" Target="/ppt/slides/slide28.xml" Id="R6857903624164050" /><Relationship Type="http://schemas.openxmlformats.org/officeDocument/2006/relationships/slide" Target="/ppt/slides/slide29.xml" Id="R3b877b09f428408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16944ba99a457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99f6df82d914b6c" /><Relationship Type="http://schemas.openxmlformats.org/officeDocument/2006/relationships/notesMaster" Target="/ppt/notesMasters/notesMaster1.xml" Id="Ra43dc4a5faa4460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64d05ed390455e" /><Relationship Type="http://schemas.openxmlformats.org/officeDocument/2006/relationships/notesMaster" Target="/ppt/notesMasters/notesMaster1.xml" Id="Ra1d539e61c6640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8bb0693b264fbb" /><Relationship Type="http://schemas.openxmlformats.org/officeDocument/2006/relationships/notesMaster" Target="/ppt/notesMasters/notesMaster1.xml" Id="Rff1baf7961f44f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3744d7cec744333" /><Relationship Type="http://schemas.openxmlformats.org/officeDocument/2006/relationships/notesMaster" Target="/ppt/notesMasters/notesMaster1.xml" Id="Ra15398d6c2fb42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401ec7f138405f" /><Relationship Type="http://schemas.openxmlformats.org/officeDocument/2006/relationships/notesMaster" Target="/ppt/notesMasters/notesMaster1.xml" Id="R1ec5f8f9679740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c2a5d0efa0428a" /><Relationship Type="http://schemas.openxmlformats.org/officeDocument/2006/relationships/notesMaster" Target="/ppt/notesMasters/notesMaster1.xml" Id="R714fc222c7824c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b79ebb1c04409b" /><Relationship Type="http://schemas.openxmlformats.org/officeDocument/2006/relationships/notesMaster" Target="/ppt/notesMasters/notesMaster1.xml" Id="R5a7dfc6ae41648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5a5687e5c5d4fec" /><Relationship Type="http://schemas.openxmlformats.org/officeDocument/2006/relationships/notesMaster" Target="/ppt/notesMasters/notesMaster1.xml" Id="R04ca86dd62cc48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9b30397a71542c5" /><Relationship Type="http://schemas.openxmlformats.org/officeDocument/2006/relationships/notesMaster" Target="/ppt/notesMasters/notesMaster1.xml" Id="Rda763c9979714fd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56aca279f854f0e" /><Relationship Type="http://schemas.openxmlformats.org/officeDocument/2006/relationships/notesMaster" Target="/ppt/notesMasters/notesMaster1.xml" Id="R7cd5c860c42e4cf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cded9ea96374f37" /><Relationship Type="http://schemas.openxmlformats.org/officeDocument/2006/relationships/notesMaster" Target="/ppt/notesMasters/notesMaster1.xml" Id="R7f45f97d92c944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36e3bc9dea94771" /><Relationship Type="http://schemas.openxmlformats.org/officeDocument/2006/relationships/notesMaster" Target="/ppt/notesMasters/notesMaster1.xml" Id="R27b6d4d577af4f2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05006b77a76419e" /><Relationship Type="http://schemas.openxmlformats.org/officeDocument/2006/relationships/notesMaster" Target="/ppt/notesMasters/notesMaster1.xml" Id="R1ee4f065b97142b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62b9d8759b74bde" /><Relationship Type="http://schemas.openxmlformats.org/officeDocument/2006/relationships/notesMaster" Target="/ppt/notesMasters/notesMaster1.xml" Id="Rc871ae980921465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a5bbef3c21e4974" /><Relationship Type="http://schemas.openxmlformats.org/officeDocument/2006/relationships/notesMaster" Target="/ppt/notesMasters/notesMaster1.xml" Id="R45d1598e801d431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4181129583e4aa1" /><Relationship Type="http://schemas.openxmlformats.org/officeDocument/2006/relationships/notesMaster" Target="/ppt/notesMasters/notesMaster1.xml" Id="Rc55ee05eb9bb425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b87a08cf0094915" /><Relationship Type="http://schemas.openxmlformats.org/officeDocument/2006/relationships/notesMaster" Target="/ppt/notesMasters/notesMaster1.xml" Id="R568759109b69444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e08b99132de4e18" /><Relationship Type="http://schemas.openxmlformats.org/officeDocument/2006/relationships/notesMaster" Target="/ppt/notesMasters/notesMaster1.xml" Id="R74472e43748b4c0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48f0dbd063246e1" /><Relationship Type="http://schemas.openxmlformats.org/officeDocument/2006/relationships/notesMaster" Target="/ppt/notesMasters/notesMaster1.xml" Id="R243f1c5fc3a448e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00c50a814774864" /><Relationship Type="http://schemas.openxmlformats.org/officeDocument/2006/relationships/notesMaster" Target="/ppt/notesMasters/notesMaster1.xml" Id="Rd26bd03d4c5e443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ad9031c90c84d00" /><Relationship Type="http://schemas.openxmlformats.org/officeDocument/2006/relationships/notesMaster" Target="/ppt/notesMasters/notesMaster1.xml" Id="Rd83bb823c9f7423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2ce53f0ca1e4c9b" /><Relationship Type="http://schemas.openxmlformats.org/officeDocument/2006/relationships/notesMaster" Target="/ppt/notesMasters/notesMaster1.xml" Id="Rde4bbfea2d0b4d3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8b4fcd4d9c64ddc" /><Relationship Type="http://schemas.openxmlformats.org/officeDocument/2006/relationships/notesMaster" Target="/ppt/notesMasters/notesMaster1.xml" Id="R7eb6f31e6e3944e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0aa15378696447a" /><Relationship Type="http://schemas.openxmlformats.org/officeDocument/2006/relationships/notesMaster" Target="/ppt/notesMasters/notesMaster1.xml" Id="R306a944dce334c1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9edf42ed5cf489d" /><Relationship Type="http://schemas.openxmlformats.org/officeDocument/2006/relationships/notesMaster" Target="/ppt/notesMasters/notesMaster1.xml" Id="R8000025ed4724ca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b17ba68d5f04b8f" /><Relationship Type="http://schemas.openxmlformats.org/officeDocument/2006/relationships/notesMaster" Target="/ppt/notesMasters/notesMaster1.xml" Id="Rdaca50c41ee14ad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1b02a7dfb6c41b4" /><Relationship Type="http://schemas.openxmlformats.org/officeDocument/2006/relationships/notesMaster" Target="/ppt/notesMasters/notesMaster1.xml" Id="R5968c8aecdbb442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beba8e2fb794d87" /><Relationship Type="http://schemas.openxmlformats.org/officeDocument/2006/relationships/notesMaster" Target="/ppt/notesMasters/notesMaster1.xml" Id="R9445cd4b9567419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442f1c598284c81" /><Relationship Type="http://schemas.openxmlformats.org/officeDocument/2006/relationships/notesMaster" Target="/ppt/notesMasters/notesMaster1.xml" Id="Rbeb81720ce1445d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[0:30] Se présenter, annoncer le sujet en une phrase :</a:t>
            </a:r>
          </a:p>
          <a:p xmlns:a="http://schemas.openxmlformats.org/drawingml/2006/main">
            <a:r>
              <a:t>« Je vous présente une solution d'IA qui détecte, dès le milieu du premier</a:t>
            </a:r>
          </a:p>
          <a:p xmlns:a="http://schemas.openxmlformats.org/drawingml/2006/main">
            <a:r>
              <a:t>semestre, les étudiants de L1 en risque de décrochage, pour prioriser</a:t>
            </a:r>
          </a:p>
          <a:p xmlns:a="http://schemas.openxmlformats.org/drawingml/2006/main">
            <a:r>
              <a:t>l'accompagnement — de façon explicable et conforme au RGPD. »</a:t>
            </a:r>
          </a:p>
          <a:p xmlns:a="http://schemas.openxmlformats.org/drawingml/2006/main">
            <a:r>
              <a:t>Annoncer la durée et qu'on prendra les questions à la fin.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[0:30] Donner la carte. Insister : « le fil rouge de ma démarche, c'est la</a:t>
            </a:r>
          </a:p>
          <a:p xmlns:a="http://schemas.openxmlformats.org/drawingml/2006/main">
            <a:r>
              <a:t>RIGUEUR anti-fuite et l'EXPLICABILITÉ, parce que ce sont des données</a:t>
            </a:r>
          </a:p>
          <a:p xmlns:a="http://schemas.openxmlformats.org/drawingml/2006/main">
            <a:r>
              <a:t>étudiantes sensibles. » Ne pas lire les 8 points un à 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Raconter le problème comme une histoire, pas comme une fiche.</a:t>
            </a:r>
          </a:p>
          <a:p xmlns:a="http://schemas.openxmlformats.org/drawingml/2006/main">
            <a:r>
              <a:t>Le point clé à faire passer : la contrainte « MI-S1 » conditionne tout</a:t>
            </a:r>
          </a:p>
          <a:p xmlns:a="http://schemas.openxmlformats.org/drawingml/2006/main">
            <a:r>
              <a:t>(elle interdit certaines variables — j'y reviens au slide des pièges).</a:t>
            </a:r>
          </a:p>
          <a:p xmlns:a="http://schemas.openxmlformats.org/drawingml/2006/main">
            <a:r>
              <a:t>« Le modèle n'est qu'une aide à la décision : l'humain garde la main. »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Justifier pourquoi c'est de la CLASSIFICATION (décision oui/non</a:t>
            </a:r>
          </a:p>
          <a:p xmlns:a="http://schemas.openxmlformats.org/drawingml/2006/main">
            <a:r>
              <a:t>d'accompagner) et pas juste de la régression. La régression est un COMPLÉMENT</a:t>
            </a:r>
          </a:p>
          <a:p xmlns:a="http://schemas.openxmlformats.org/drawingml/2006/main">
            <a:r>
              <a:t>pour calibrer l'intensité. Question jury probable : « pourquoi pas prédire</a:t>
            </a:r>
          </a:p>
          <a:p xmlns:a="http://schemas.openxmlformats.org/drawingml/2006/main">
            <a:r>
              <a:t>seulement la note ? » → parce que la décision métier est binaire.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[3:00] SLIDE LA PLUS IMPORTANTE. Prendre le temps.</a:t>
            </a:r>
          </a:p>
          <a:p xmlns:a="http://schemas.openxmlformats.org/drawingml/2006/main">
            <a:r>
              <a:t>- Fuite de données : moyenne_finale est un résultat de FIN de semestre,</a:t>
            </a:r>
          </a:p>
          <a:p xmlns:a="http://schemas.openxmlformats.org/drawingml/2006/main">
            <a:r>
              <a:t>  corrélé au décrochage → l'utiliser = tricher.</a:t>
            </a:r>
          </a:p>
          <a:p xmlns:a="http://schemas.openxmlformats.org/drawingml/2006/main">
            <a:r>
              <a:t>- Fuite temporelle : les résultats consolidés de fin de S1 ne sont PAS</a:t>
            </a:r>
          </a:p>
          <a:p xmlns:a="http://schemas.openxmlformats.org/drawingml/2006/main">
            <a:r>
              <a:t>  disponibles à mi-S1 → performance flatteuse mais modèle inutilisable.</a:t>
            </a:r>
          </a:p>
          <a:p xmlns:a="http://schemas.openxmlformats.org/drawingml/2006/main">
            <a:r>
              <a:t>- Leurres : je ne me contente pas de les retirer, je PROUVE (EDA) qu'ils</a:t>
            </a:r>
          </a:p>
          <a:p xmlns:a="http://schemas.openxmlformats.org/drawingml/2006/main">
            <a:r>
              <a:t>  n'ont pas de signal.</a:t>
            </a:r>
          </a:p>
          <a:p xmlns:a="http://schemas.openxmlformats.org/drawingml/2006/main">
            <a:r>
              <a:t>Conclure : « et pour ne jamais me tromper, j'ai un garde-fou qui plante si une</a:t>
            </a:r>
          </a:p>
          <a:p xmlns:a="http://schemas.openxmlformats.org/drawingml/2006/main">
            <a:r>
              <a:t>colonne interdite entre dans le modèle. »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Montrer une vraie conscience éthique — c'est très regardé (C2 a un</a:t>
            </a:r>
          </a:p>
          <a:p xmlns:a="http://schemas.openxmlformats.org/drawingml/2006/main">
            <a:r>
              <a:t>questionnaire séparé). Question piège classique : « en retirant le sexe, votre</a:t>
            </a:r>
          </a:p>
          <a:p xmlns:a="http://schemas.openxmlformats.org/drawingml/2006/main">
            <a:r>
              <a:t>modèle est-il non-discriminant ? » → NON, des proxys corrélés peuvent réintroduire</a:t>
            </a:r>
          </a:p>
          <a:p xmlns:a="http://schemas.openxmlformats.org/drawingml/2006/main">
            <a:r>
              <a:t>un biais → d'où l'audit d'équité que je montre plus loin.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Insister sur 3 idées défendables :</a:t>
            </a:r>
          </a:p>
          <a:p xmlns:a="http://schemas.openxmlformats.org/drawingml/2006/main">
            <a:r>
              <a:t>1. Le nettoyage est dans un MODULE → rejoué à l'identique en production.</a:t>
            </a:r>
          </a:p>
          <a:p xmlns:a="http://schemas.openxmlformats.org/drawingml/2006/main">
            <a:r>
              <a:t>2. Silver pseudonymise, Gold sert réellement à entraîner/scorer.</a:t>
            </a:r>
          </a:p>
          <a:p xmlns:a="http://schemas.openxmlformats.org/drawingml/2006/main">
            <a:r>
              <a:t>3. On impute DANS la pipeline (pas avant le split) sinon fuite du test.</a:t>
            </a:r>
          </a:p>
          <a:p xmlns:a="http://schemas.openxmlformats.org/drawingml/2006/main">
            <a:r>
              <a:t>Montrer 1-2 exemples concrets de valeurs sales (« 14.4 km »).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Montrer le graphe des densités par classe (présence, LMS, rendus...).</a:t>
            </a:r>
          </a:p>
          <a:p xmlns:a="http://schemas.openxmlformats.org/drawingml/2006/main">
            <a:r>
              <a:t>« On voit visuellement que les signaux d'engagement séparent bien les deux</a:t>
            </a:r>
          </a:p>
          <a:p xmlns:a="http://schemas.openxmlformats.org/drawingml/2006/main">
            <a:r>
              <a:t>groupes. » Puis mentionner le graphe des leurres (eda_leurres.png) : « et voici</a:t>
            </a:r>
          </a:p>
          <a:p xmlns:a="http://schemas.openxmlformats.org/drawingml/2006/main">
            <a:r>
              <a:t>la preuve que les leurres n'apportent rien. » Tu peux mettre eda_leurres.png en</a:t>
            </a:r>
          </a:p>
          <a:p xmlns:a="http://schemas.openxmlformats.org/drawingml/2006/main">
            <a:r>
              <a:t>2e image si la place le permet.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Justifier AUC (insensible au seuil et au déséquilibre, contrairement à</a:t>
            </a:r>
          </a:p>
          <a:p xmlns:a="http://schemas.openxmlformats.org/drawingml/2006/main">
            <a:r>
              <a:t>l'accuracy). Montrer les courbes ROC superposées. Le message : « à performance</a:t>
            </a:r>
          </a:p>
          <a:p xmlns:a="http://schemas.openxmlformats.org/drawingml/2006/main">
            <a:r>
              <a:t>égale, je choisis le modèle le plus EXPLICABLE et le plus SOBRE — c'est ce</a:t>
            </a:r>
          </a:p>
          <a:p xmlns:a="http://schemas.openxmlformats.org/drawingml/2006/main">
            <a:r>
              <a:t>qu'exige le contexte. » Question probable : « pourquoi pas XGBoost ? » → pas de</a:t>
            </a:r>
          </a:p>
          <a:p xmlns:a="http://schemas.openxmlformats.org/drawingml/2006/main">
            <a:r>
              <a:t>gain d'AUC ici, et moins explicable.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Rassurer sur la robustesse : le fait que l'AUC en validation croisée</a:t>
            </a:r>
          </a:p>
          <a:p xmlns:a="http://schemas.openxmlformats.org/drawingml/2006/main">
            <a:r>
              <a:t>égale l'AUC sur le test hold-out prouve qu'on ne surapprend pas. Expliquer</a:t>
            </a:r>
          </a:p>
          <a:p xmlns:a="http://schemas.openxmlformats.org/drawingml/2006/main">
            <a:r>
              <a:t>pourquoi pondération plutôt que SMOTE : préserve la calibration des probabilités.</a:t>
            </a:r>
          </a:p>
          <a:p xmlns:a="http://schemas.openxmlformats.org/drawingml/2006/main">
            <a:r>
              <a:t>Point important : le test final n'a pas servi à choisir le seuil.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C'est un slide qui impressionne : montrer qu'on ne prend pas 0,5 par</a:t>
            </a:r>
          </a:p>
          <a:p xmlns:a="http://schemas.openxmlformats.org/drawingml/2006/main">
            <a:r>
              <a:t>défaut mais qu'on OPTIMISE un coût métier sur validation. Assumer que le ratio 5:1 est une</a:t>
            </a:r>
          </a:p>
          <a:p xmlns:a="http://schemas.openxmlformats.org/drawingml/2006/main">
            <a:r>
              <a:t>hypothèse à valider avec la direction. Lien direct avec l'objectif : ne pas</a:t>
            </a:r>
          </a:p>
          <a:p xmlns:a="http://schemas.openxmlformats.org/drawingml/2006/main">
            <a:r>
              <a:t>laisser des étudiants décrocher.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Lire la matrice de confusion : « au seuil retenu, je détecte 96 % des</a:t>
            </a:r>
          </a:p>
          <a:p xmlns:a="http://schemas.openxmlformats.org/drawingml/2006/main">
            <a:r>
              <a:t>futurs décrocheurs. » Assumer la précision plus basse (64 %) : c'est un choix —</a:t>
            </a:r>
          </a:p>
          <a:p xmlns:a="http://schemas.openxmlformats.org/drawingml/2006/main">
            <a:r>
              <a:t>mieux vaut quelques accompagnements en trop qu'un décrocheur raté. Coût d'un FN</a:t>
            </a:r>
          </a:p>
          <a:p xmlns:a="http://schemas.openxmlformats.org/drawingml/2006/main">
            <a:r>
              <a:t>&gt;&gt; coût d'un FP.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Deux messages : (1) le modèle n'est pas une boîte noire — SHAP et</a:t>
            </a:r>
          </a:p>
          <a:p xmlns:a="http://schemas.openxmlformats.org/drawingml/2006/main">
            <a:r>
              <a:t>l'importance des variables montrent des facteurs sur lesquels on peut AGIR</a:t>
            </a:r>
          </a:p>
          <a:p xmlns:a="http://schemas.openxmlformats.org/drawingml/2006/main">
            <a:r>
              <a:t>(relance, tutorat). (2) J'ai vérifié l'équité entre sous-groupes sensibles :</a:t>
            </a:r>
          </a:p>
          <a:p xmlns:a="http://schemas.openxmlformats.org/drawingml/2006/main">
            <a:r>
              <a:t>pas d'écart marqué. Tu peux aussi montrer importance_permutation.png.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[1:00] Court. Montrer que la régression est utile pour NUANCER (soutien léger vs</a:t>
            </a:r>
          </a:p>
          <a:p xmlns:a="http://schemas.openxmlformats.org/drawingml/2006/main">
            <a:r>
              <a:t>renforcé), sans prétendre prédire une note exacte. Rappeler qu'on ne s'en sert</a:t>
            </a:r>
          </a:p>
          <a:p xmlns:a="http://schemas.openxmlformats.org/drawingml/2006/main">
            <a:r>
              <a:t>JAMAIS pour prédire abandon.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Montrer qu'on va « du notebook au service puis au Run » : le notebook</a:t>
            </a:r>
          </a:p>
          <a:p xmlns:a="http://schemas.openxmlformats.org/drawingml/2006/main">
            <a:r>
              <a:t>explique, le package exécute, et le registre permet de maîtriser les versions.</a:t>
            </a:r>
          </a:p>
          <a:p xmlns:a="http://schemas.openxmlformats.org/drawingml/2006/main">
            <a:r>
              <a:t>Mentionner train, predict, drift-report, model-register/promote/rollback.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Faire le lien avec les exigences RGPD : Bronze reste brut parce que c'est la</a:t>
            </a:r>
          </a:p>
          <a:p xmlns:a="http://schemas.openxmlformats.org/drawingml/2006/main">
            <a:r>
              <a:t>zone de preuve et de reprise, mais elle est restreinte. Silver pseudonymise.</a:t>
            </a:r>
          </a:p>
          <a:p xmlns:a="http://schemas.openxmlformats.org/drawingml/2006/main">
            <a:r>
              <a:t>Gold est la seule source de modélisation et de scoring. Mentionner la commande :</a:t>
            </a:r>
          </a:p>
          <a:p xmlns:a="http://schemas.openxmlformats.org/drawingml/2006/main">
            <a:r>
              <a:t>decrochage medallion-load.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Présenter le principe d'architecture : dimensionner pour le besoin réel.</a:t>
            </a:r>
          </a:p>
          <a:p xmlns:a="http://schemas.openxmlformats.org/drawingml/2006/main">
            <a:r>
              <a:t>Le trafic est faible et rejouable : Kubernetes n'apporte rien aujourd'hui.</a:t>
            </a:r>
          </a:p>
          <a:p xmlns:a="http://schemas.openxmlformats.org/drawingml/2006/main">
            <a:r>
              <a:t>Les montants sont des ordres de grandeur à confirmer par la DSI, pas des devis.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Dans ce contexte, un réentraînement mensuel</a:t>
            </a:r>
          </a:p>
          <a:p xmlns:a="http://schemas.openxmlformats.org/drawingml/2006/main">
            <a:r>
              <a:t>n'a pas de sens car la vérité terrain arrive après la cohorte. Le déclencheur</a:t>
            </a:r>
          </a:p>
          <a:p xmlns:a="http://schemas.openxmlformats.org/drawingml/2006/main">
            <a:r>
              <a:t>drift ouvre une investigation ; il n'autorise un entraînement que si les labels</a:t>
            </a:r>
          </a:p>
          <a:p xmlns:a="http://schemas.openxmlformats.org/drawingml/2006/main">
            <a:r>
              <a:t>frais existent. Le candidat du notebook passe le gate technique (écart F/M et</a:t>
            </a:r>
          </a:p>
          <a:p xmlns:a="http://schemas.openxmlformats.org/drawingml/2006/main">
            <a:r>
              <a:t>boursier = 1,9 pt) mais reste « en attente » sans approbation humaine.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Expliquer le dead-man's switch : un job qui ne démarre plus n'émet</a:t>
            </a:r>
          </a:p>
          <a:p xmlns:a="http://schemas.openxmlformats.org/drawingml/2006/main">
            <a:r>
              <a:t>aucune erreur. Il doit donc envoyer un « je suis passé » ; l'absence du signal</a:t>
            </a:r>
          </a:p>
          <a:p xmlns:a="http://schemas.openxmlformats.org/drawingml/2006/main">
            <a:r>
              <a:t>déclenche l'alerte. L'astreinte 24/7 permanente serait disproportionnée ici.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Montrer le graphe des densités par classe (présence, LMS, rendus...).</a:t>
            </a:r>
          </a:p>
          <a:p xmlns:a="http://schemas.openxmlformats.org/drawingml/2006/main">
            <a:r>
              <a:t>« On voit visuellement que les signaux d'engagement séparent bien les deux</a:t>
            </a:r>
          </a:p>
          <a:p xmlns:a="http://schemas.openxmlformats.org/drawingml/2006/main">
            <a:r>
              <a:t>groupes. » Puis mentionner le graphe des leurres (eda_leurres.png) : « et voici</a:t>
            </a:r>
          </a:p>
          <a:p xmlns:a="http://schemas.openxmlformats.org/drawingml/2006/main">
            <a:r>
              <a:t>la preuve que les leurres n'apportent rien. » Tu peux mettre eda_leurres.png en</a:t>
            </a:r>
          </a:p>
          <a:p xmlns:a="http://schemas.openxmlformats.org/drawingml/2006/main">
            <a:r>
              <a:t>2e image si la place le permet.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Montrer qu'on va « du notebook au service puis au Run » : le notebook</a:t>
            </a:r>
          </a:p>
          <a:p xmlns:a="http://schemas.openxmlformats.org/drawingml/2006/main">
            <a:r>
              <a:t>explique, le package exécute, et le registre permet de maîtriser les versions.</a:t>
            </a:r>
          </a:p>
          <a:p xmlns:a="http://schemas.openxmlformats.org/drawingml/2006/main">
            <a:r>
              <a:t>Mentionner train, predict, drift-report, model-register/promote/rollback.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[2:00] Montrer le graphe des densités par classe (présence, LMS, rendus...).</a:t>
            </a:r>
          </a:p>
          <a:p xmlns:a="http://schemas.openxmlformats.org/drawingml/2006/main">
            <a:r>
              <a:t>« On voit visuellement que les signaux d'engagement séparent bien les deux</a:t>
            </a:r>
          </a:p>
          <a:p xmlns:a="http://schemas.openxmlformats.org/drawingml/2006/main">
            <a:r>
              <a:t>groupes. » Puis mentionner le graphe des leurres (eda_leurres.png) : « et voici</a:t>
            </a:r>
          </a:p>
          <a:p xmlns:a="http://schemas.openxmlformats.org/drawingml/2006/main">
            <a:r>
              <a:t>la preuve que les leurres n'apportent rien. » Tu peux mettre eda_leurres.png en</a:t>
            </a:r>
          </a:p>
          <a:p xmlns:a="http://schemas.openxmlformats.org/drawingml/2006/main">
            <a:r>
              <a:t>2e image si la place le permet.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Adapter le ROI industriel au contexte éducatif. On ne dispose pas d'un</a:t>
            </a:r>
          </a:p>
          <a:p xmlns:a="http://schemas.openxmlformats.org/drawingml/2006/main">
            <a:r>
              <a:t>coût officiel du décrochage ni de l'uplift causal de l'accompagnement. La bonne</a:t>
            </a:r>
          </a:p>
          <a:p xmlns:a="http://schemas.openxmlformats.org/drawingml/2006/main">
            <a:r>
              <a:t>réponse est de proposer la méthode de mesure, pas de fabriquer un chiffre.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[1:30] Montrer de la lucidité — le jury valorise un candidat qui connaît les</a:t>
            </a:r>
          </a:p>
          <a:p xmlns:a="http://schemas.openxmlformats.org/drawingml/2006/main">
            <a:r>
              <a:t>limites de son travail. NE PAS survendre. « Ce que j'ai construit est une</a:t>
            </a:r>
          </a:p>
          <a:p xmlns:a="http://schemas.openxmlformats.org/drawingml/2006/main">
            <a:r>
              <a:t>démarche solide et reproductible ; sa validité en production reste à confirmer</a:t>
            </a:r>
          </a:p>
          <a:p xmlns:a="http://schemas.openxmlformats.org/drawingml/2006/main">
            <a:r>
              <a:t>sur données réelles. »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[1:00] Résumer en 30 s les 5 messages. Terminer par la valeur métier : « une</a:t>
            </a:r>
          </a:p>
          <a:p xmlns:a="http://schemas.openxmlformats.org/drawingml/2006/main">
            <a:r>
              <a:t>aide concrète pour accompagner à temps les étudiants à risque. » Enchaîner sur</a:t>
            </a:r>
          </a:p>
          <a:p xmlns:a="http://schemas.openxmlformats.org/drawingml/2006/main">
            <a:r>
              <a:t>les questions avec assurance.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de secours, à ne PAS présenter : à garder sous la main pendant les 30 min</a:t>
            </a:r>
          </a:p>
          <a:p xmlns:a="http://schemas.openxmlformats.org/drawingml/2006/main">
            <a:r>
              <a:t>de questions. Prépare 1-2 phrases pour chacune à l'avance.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581c34f0d8473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22ec6e0b02470b" /><Relationship Type="http://schemas.openxmlformats.org/officeDocument/2006/relationships/slideLayout" Target="/ppt/slideLayouts/slideLayout1.xml" Id="R5b95af854bea49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95af854bea49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f4555f7684210" /><Relationship Type="http://schemas.openxmlformats.org/officeDocument/2006/relationships/notesSlide" Target="/ppt/notesSlides/notesSlide1.xml" Id="R753eaaaaf73944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43af8f93a2491a" /><Relationship Type="http://schemas.openxmlformats.org/officeDocument/2006/relationships/notesSlide" Target="/ppt/notesSlides/notesSlide2.xml" Id="R7ddc7f151aa249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d259b0699f41d7" /><Relationship Type="http://schemas.openxmlformats.org/officeDocument/2006/relationships/notesSlide" Target="/ppt/notesSlides/notesSlide3.xml" Id="Rb15d28150b9245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c9ae7ec1124f3a" /><Relationship Type="http://schemas.openxmlformats.org/officeDocument/2006/relationships/notesSlide" Target="/ppt/notesSlides/notesSlide4.xml" Id="Ra72fef629ae14c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9fcd6dd004210" /><Relationship Type="http://schemas.openxmlformats.org/officeDocument/2006/relationships/notesSlide" Target="/ppt/notesSlides/notesSlide5.xml" Id="R47bd120038634dc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0d9e4b179047fb" /><Relationship Type="http://schemas.openxmlformats.org/officeDocument/2006/relationships/notesSlide" Target="/ppt/notesSlides/notesSlide6.xml" Id="R7c04674ae4bb40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61b59c7634d89" /><Relationship Type="http://schemas.openxmlformats.org/officeDocument/2006/relationships/notesSlide" Target="/ppt/notesSlides/notesSlide7.xml" Id="R9997e78e3e04462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0b9c13742d4496" /><Relationship Type="http://schemas.openxmlformats.org/officeDocument/2006/relationships/image" Target="/ppt/media/image.png" Id="R9eebee096b6c44c8" /><Relationship Type="http://schemas.openxmlformats.org/officeDocument/2006/relationships/notesSlide" Target="/ppt/notesSlides/notesSlide8.xml" Id="Rc301c3c14235442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82d413e84e4b8e" /><Relationship Type="http://schemas.openxmlformats.org/officeDocument/2006/relationships/image" Target="/ppt/media/image2.png" Id="R4f28012767234e6b" /><Relationship Type="http://schemas.openxmlformats.org/officeDocument/2006/relationships/notesSlide" Target="/ppt/notesSlides/notesSlide9.xml" Id="Rec7bc200af684d1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33bd1e16204041" /><Relationship Type="http://schemas.openxmlformats.org/officeDocument/2006/relationships/notesSlide" Target="/ppt/notesSlides/notesSlide10.xml" Id="R00fc71228962448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14b9fcf9be4f1b" /><Relationship Type="http://schemas.openxmlformats.org/officeDocument/2006/relationships/image" Target="/ppt/media/image3.png" Id="Rf9e92aeb09b04af7" /><Relationship Type="http://schemas.openxmlformats.org/officeDocument/2006/relationships/notesSlide" Target="/ppt/notesSlides/notesSlide11.xml" Id="Rddd62cdf32e144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afe9b7486a4fe7" /><Relationship Type="http://schemas.openxmlformats.org/officeDocument/2006/relationships/image" Target="/ppt/media/image4.png" Id="Re031af8eb41e4dc6" /><Relationship Type="http://schemas.openxmlformats.org/officeDocument/2006/relationships/notesSlide" Target="/ppt/notesSlides/notesSlide12.xml" Id="Rd611a6edc6364ff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6405e6955648d8" /><Relationship Type="http://schemas.openxmlformats.org/officeDocument/2006/relationships/image" Target="/ppt/media/image5.png" Id="R07789bd8257e4034" /><Relationship Type="http://schemas.openxmlformats.org/officeDocument/2006/relationships/notesSlide" Target="/ppt/notesSlides/notesSlide13.xml" Id="R3b316cefa74a4e1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88574adbf54396" /><Relationship Type="http://schemas.openxmlformats.org/officeDocument/2006/relationships/image" Target="/ppt/media/image6.png" Id="R3525f95efaf648ef" /><Relationship Type="http://schemas.openxmlformats.org/officeDocument/2006/relationships/notesSlide" Target="/ppt/notesSlides/notesSlide14.xml" Id="Rd0a42e11fce54a0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deb5ac2cc47f5" /><Relationship Type="http://schemas.openxmlformats.org/officeDocument/2006/relationships/notesSlide" Target="/ppt/notesSlides/notesSlide15.xml" Id="R0696c7370f614e3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bf737e26d4ee1" /><Relationship Type="http://schemas.openxmlformats.org/officeDocument/2006/relationships/notesSlide" Target="/ppt/notesSlides/notesSlide16.xml" Id="R067efee7d67c45a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0c6699b204aab" /><Relationship Type="http://schemas.openxmlformats.org/officeDocument/2006/relationships/notesSlide" Target="/ppt/notesSlides/notesSlide17.xml" Id="R0f6616698a284f9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bf6588dec64592" /><Relationship Type="http://schemas.openxmlformats.org/officeDocument/2006/relationships/notesSlide" Target="/ppt/notesSlides/notesSlide18.xml" Id="R25426dbf98f1476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b2007918854a15" /><Relationship Type="http://schemas.openxmlformats.org/officeDocument/2006/relationships/notesSlide" Target="/ppt/notesSlides/notesSlide19.xml" Id="Ra4091de80ce74d3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7e345df87a42be" /><Relationship Type="http://schemas.openxmlformats.org/officeDocument/2006/relationships/image" Target="/ppt/media/image7.png" Id="Rc4af3264b667440a" /><Relationship Type="http://schemas.openxmlformats.org/officeDocument/2006/relationships/notesSlide" Target="/ppt/notesSlides/notesSlide20.xml" Id="R83ba95c966f240a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a900fafce342b2" /><Relationship Type="http://schemas.openxmlformats.org/officeDocument/2006/relationships/image" Target="/ppt/media/image8.png" Id="R70caa08996804c62" /><Relationship Type="http://schemas.openxmlformats.org/officeDocument/2006/relationships/image" Target="/ppt/media/image9.png" Id="R6236cb4c3b424f58" /><Relationship Type="http://schemas.openxmlformats.org/officeDocument/2006/relationships/notesSlide" Target="/ppt/notesSlides/notesSlide21.xml" Id="Rafb806467fd5468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b9a523994432f" /><Relationship Type="http://schemas.openxmlformats.org/officeDocument/2006/relationships/image" Target="/ppt/media/image10.png" Id="R1709610fae794954" /><Relationship Type="http://schemas.openxmlformats.org/officeDocument/2006/relationships/notesSlide" Target="/ppt/notesSlides/notesSlide22.xml" Id="R8831751e6c42491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3f4c5a9b09457f" /><Relationship Type="http://schemas.openxmlformats.org/officeDocument/2006/relationships/image" Target="/ppt/media/image11.png" Id="R48487068ba464352" /><Relationship Type="http://schemas.openxmlformats.org/officeDocument/2006/relationships/notesSlide" Target="/ppt/notesSlides/notesSlide23.xml" Id="R1c3c50321c4346f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4bceede71f4987" /><Relationship Type="http://schemas.openxmlformats.org/officeDocument/2006/relationships/image" Target="/ppt/media/image12.png" Id="R3b930f7f3bf84910" /><Relationship Type="http://schemas.openxmlformats.org/officeDocument/2006/relationships/notesSlide" Target="/ppt/notesSlides/notesSlide24.xml" Id="Rb593271123cf4ae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fbd3c269e4a07" /><Relationship Type="http://schemas.openxmlformats.org/officeDocument/2006/relationships/notesSlide" Target="/ppt/notesSlides/notesSlide25.xml" Id="R38378c274e7b483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10d60c5b6f460b" /><Relationship Type="http://schemas.openxmlformats.org/officeDocument/2006/relationships/notesSlide" Target="/ppt/notesSlides/notesSlide26.xml" Id="Rf9fcfd5b13874d3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05144107374a3d" /><Relationship Type="http://schemas.openxmlformats.org/officeDocument/2006/relationships/notesSlide" Target="/ppt/notesSlides/notesSlide27.xml" Id="R422e8b3fbe0543b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6a99fd5964f34" /><Relationship Type="http://schemas.openxmlformats.org/officeDocument/2006/relationships/notesSlide" Target="/ppt/notesSlides/notesSlide28.xml" Id="R4d604da847f642a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ef5fac93bd4a47" /><Relationship Type="http://schemas.openxmlformats.org/officeDocument/2006/relationships/notesSlide" Target="/ppt/notesSlides/notesSlide29.xml" Id="R8f1aacdde1b547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26868E-D048-4D6E-A042-67E1814F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762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7D10E5-25F2-43B3-BC67-8B86F85A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447800"/>
            <a:ext cx="971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3B57"/>
                </a:solidFill>
              </a:defRPr>
            </a:pPr>
            <a:r>
              <a:rPr sz="3900" b="1">
                <a:solidFill>
                  <a:srgbClr val="173B57"/>
                </a:solidFill>
              </a:rPr>
              <a:t>Détection précoce du</a:t>
            </a:r>
          </a:p>
          <a:p xmlns:a="http://schemas.openxmlformats.org/drawingml/2006/main">
            <a:pPr>
              <a:buNone/>
              <a:defRPr sz="3900" b="1">
                <a:solidFill>
                  <a:srgbClr val="173B57"/>
                </a:solidFill>
              </a:defRPr>
            </a:pPr>
            <a:r>
              <a:rPr sz="3900" b="1">
                <a:solidFill>
                  <a:srgbClr val="173B57"/>
                </a:solidFill>
              </a:rPr>
              <a:t>décrochage étudiant en L1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15FA47-53EC-45CA-9193-462777FF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B252C"/>
                </a:solidFill>
              </a:defRPr>
            </a:pPr>
            <a:r>
              <a:rPr sz="1875" b="1">
                <a:solidFill>
                  <a:srgbClr val="1B252C"/>
                </a:solidFill>
              </a:rPr>
              <a:t>Concevoir et implémenter une solution d'IA — soutenance de certification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24FB8D-BF7E-4DE2-9FCC-5F1C6565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862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5D6B76"/>
                </a:solidFill>
              </a:defRPr>
            </a:pPr>
            <a:r>
              <a:rPr sz="1425">
                <a:solidFill>
                  <a:srgbClr val="5D6B76"/>
                </a:solidFill>
              </a:rPr>
              <a:t>Staudt Michael  ·  21/07/2026  ·  v1.3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1A088-C21D-44DC-9079-6B41CBACE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8625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2E6F9E"/>
                </a:solidFill>
              </a:defRPr>
            </a:pPr>
            <a:r>
              <a:rPr sz="1350">
                <a:solidFill>
                  <a:srgbClr val="2E6F9E"/>
                </a:solidFill>
              </a:rPr>
              <a:t>Python 3.13 · scikit-learn · FastAPI · Postgres · MLflow · Prometheus/Grafana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0F9D56-A249-4DD0-940C-E001BA8B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986291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4B203E-174D-40C8-99BD-6A9B2D92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Fil conducteur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2C25A7-DD64-4E70-B999-16651698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EF34B9-B033-4972-A34A-2873590B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A201F-D7D1-4935-B027-8998E428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430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2B2AEA-DA44-477F-9EB5-D7D3767C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57162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Problème &amp; cadrage métier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EDF9DF-3571-487B-8E82-904926BE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288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7A9B9-A667-4793-A2BD-3A5D5616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5430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211B78-BB87-45A4-B3C9-EA236F5C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157162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Données et pièges méthodologiques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11FFF1-43B7-4152-81CD-8AE59D8F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2288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F762B-0734-4E7F-BF8C-2E9785CB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956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0DB557-158C-480A-984A-B229C5F0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92417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Éthique, RGPD &amp; préparation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D5B5A4-7BE7-4AF2-B90B-189623C5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39CC79-8499-4F4B-BA32-00A16C4D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956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C8138D-9D0C-44B2-BE41-04FFD442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92417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Modèle, seuil &amp; résultats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ACDCD8-8C66-4276-A2CB-1F23F392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58140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87E62A-8131-47B7-B323-7C12BF1D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548BDA-C5A2-4881-A16C-CD6B556A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7672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Industrialisation du notebook au service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A0395D-8D0A-41ED-9DBC-AC58F776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339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F8A031-96A4-4060-B308-F32E9D89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248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E6F9E"/>
                </a:solidFill>
              </a:defRPr>
            </a:pPr>
            <a:r>
              <a:rPr sz="2250" b="1">
                <a:solidFill>
                  <a:srgbClr val="2E6F9E"/>
                </a:solidFill>
              </a:rPr>
              <a:t>06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C832E3-1CCF-4B9F-8142-BEE154A3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4276725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B252C"/>
                </a:solidFill>
              </a:defRPr>
            </a:pPr>
            <a:r>
              <a:rPr sz="1725" b="1">
                <a:solidFill>
                  <a:srgbClr val="1B252C"/>
                </a:solidFill>
              </a:rPr>
              <a:t>Exploitation, alertes, rollback et valeur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868999-1448-439B-9E5F-5E7872F8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339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9527266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FF71F8-0FB6-4443-A026-03B65980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1. Contexte &amp; problème métier — C1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41EE43-755A-4078-A27C-5EA4343B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385F3-0937-425C-A874-231B9244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A8234F-3EE0-4FB2-86C4-BA4CCFE1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5700" b="1">
                <a:solidFill>
                  <a:srgbClr val="B95D48"/>
                </a:solidFill>
              </a:defRPr>
            </a:pPr>
            <a:r>
              <a:rPr sz="5700" b="1">
                <a:solidFill>
                  <a:srgbClr val="B95D48"/>
                </a:solidFill>
              </a:rPr>
              <a:t>28 %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DFD246-3A37-4A83-B574-4EA913E7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5D6B76"/>
                </a:solidFill>
              </a:defRPr>
            </a:pPr>
            <a:r>
              <a:rPr sz="1800">
                <a:solidFill>
                  <a:srgbClr val="5D6B76"/>
                </a:solidFill>
              </a:rPr>
              <a:t>d'abandon observé</a:t>
            </a:r>
          </a:p>
          <a:p xmlns:a="http://schemas.openxmlformats.org/drawingml/2006/main">
            <a:pPr>
              <a:buNone/>
              <a:defRPr sz="1800">
                <a:solidFill>
                  <a:srgbClr val="5D6B76"/>
                </a:solidFill>
              </a:defRPr>
            </a:pPr>
            <a:r>
              <a:rPr sz="1800">
                <a:solidFill>
                  <a:srgbClr val="5D6B76"/>
                </a:solidFill>
              </a:rPr>
              <a:t>dans le jeu de données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50F589-B170-4DAD-A88E-0984647C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66875"/>
            <a:ext cx="6667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Agir tôt, dès le milieu du premier semestre.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Prioriser des ressources limitées : tutorat, méthodologie, aide sociale.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Utiliser uniquement les données réellement disponibles à mi-S1.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D6D825-F824-4316-BAA3-F2F197D3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00550"/>
            <a:ext cx="666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173B5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7EFEF2-DFBA-4E94-B839-3F5B61F7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514850"/>
            <a:ext cx="6324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B57"/>
                </a:solidFill>
              </a:defRPr>
            </a:pPr>
            <a:r>
              <a:rPr sz="1500" b="1">
                <a:solidFill>
                  <a:srgbClr val="173B57"/>
                </a:solidFill>
              </a:rPr>
              <a:t>Le modèle propose une priorité d'accompagnement ; l'humain garde la décision.</a:t>
            </a:r>
          </a:p>
        </p:txBody>
      </p:sp>
    </p:spTree>
    <p:extLst>
      <p:ext uri="{BB962C8B-B14F-4D97-AF65-F5344CB8AC3E}">
        <p14:creationId xmlns:p14="http://schemas.microsoft.com/office/powerpoint/2010/main" val="14173963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ED2218-7228-4C76-B025-B3181155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2. Objectif IA &amp; cadrage — C1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8598FB-C50F-4776-9837-BA2843CD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29AAD9-B85D-48EB-9E50-E30BBF31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4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1619250"/>
          <a:ext xmlns:a="http://schemas.openxmlformats.org/drawingml/2006/main" cx="10820400" cy="2190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3143250"/>
                <a:gridCol w="4819650"/>
              </a:tblGrid>
              <a:tr h="7302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Cible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Type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7302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abandon (0/1)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Classification principale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Prioriser l'accompagnement</a:t>
                      </a:r>
                    </a:p>
                  </a:txBody>
                  <a:tcPr marL="91440" marR="91440" marT="45720" marB="45720"/>
                </a:tc>
              </a:tr>
              <a:tr h="7302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moyenne_finale (/20)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Régression secondaire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Calibrer l'intensité de l'aide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87B2F8-39C4-477E-8237-13C1AB58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19600"/>
            <a:ext cx="933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AEE328-A970-49CF-96E5-B097FF62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533900"/>
            <a:ext cx="8991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Sortie = score de risque + alerte au seuil métier, jamais un verdict automatique.</a:t>
            </a:r>
          </a:p>
        </p:txBody>
      </p:sp>
    </p:spTree>
    <p:extLst>
      <p:ext uri="{BB962C8B-B14F-4D97-AF65-F5344CB8AC3E}">
        <p14:creationId xmlns:p14="http://schemas.microsoft.com/office/powerpoint/2010/main" val="887948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891304-3B9E-4EA2-BF78-7F476F2A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3. Les données et les 3 pièges — C1 / C3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B8D3C0-E226-4180-93C3-D3A053A6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340BE4-7AC2-42C2-B545-10E3304E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DA1A37-3A23-40F3-8D25-E2125FDE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D6B76"/>
                </a:solidFill>
              </a:defRPr>
            </a:pPr>
            <a:r>
              <a:rPr sz="1500">
                <a:solidFill>
                  <a:srgbClr val="5D6B76"/>
                </a:solidFill>
              </a:rPr>
              <a:t>≈ 5 200 étudiants · 33 colonnes · données volontairement brutes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4953000"/>
                <a:gridCol w="3390900"/>
              </a:tblGrid>
              <a:tr h="7143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Piège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Colonnes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Décision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Fuite de données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moyenne_finale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Exclue des features</a:t>
                      </a:r>
                    </a:p>
                  </a:txBody>
                  <a:tcPr marL="91440" marR="91440" marT="45720" marB="45720"/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Fuite temporelle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moyenne_partiels_s1, nb_ue_validees_s1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Hors périmètre mi-S1</a:t>
                      </a:r>
                    </a:p>
                  </a:txBody>
                  <a:tcPr marL="91440" marR="91440" marT="45720" marB="45720"/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B252C"/>
                          </a:solidFill>
                        </a:rPr>
                        <a:t>Leurres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groupe_td, couleur_carte, jour_inscription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B252C"/>
                          </a:solidFill>
                        </a:rPr>
                        <a:t>Testés puis exclus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4C7351-3EA6-4F89-B84A-0BF929BD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95875"/>
            <a:ext cx="914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8"/>
          </a:solidFill>
          <a:ln xmlns:a="http://schemas.openxmlformats.org/drawingml/2006/main" w="9525">
            <a:solidFill>
              <a:srgbClr val="B95D4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495181-EFA7-42A0-B3CB-A5C9B75A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210175"/>
            <a:ext cx="8801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B95D48"/>
                </a:solidFill>
              </a:defRPr>
            </a:pPr>
            <a:r>
              <a:rPr sz="1500" b="1">
                <a:solidFill>
                  <a:srgbClr val="B95D48"/>
                </a:solidFill>
              </a:rPr>
              <a:t>Périmètre verrouillé dans le code : assert_no_leakage bloque toute colonne interdite.</a:t>
            </a:r>
          </a:p>
        </p:txBody>
      </p:sp>
    </p:spTree>
    <p:extLst>
      <p:ext uri="{BB962C8B-B14F-4D97-AF65-F5344CB8AC3E}">
        <p14:creationId xmlns:p14="http://schemas.microsoft.com/office/powerpoint/2010/main" val="3602251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5F125F-6463-47FB-A3BF-D882F087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4. Éthique, RGPD &amp; biais — 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F4C0A2-CE3D-4993-B1D7-A0340843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BCC3C-2EDD-47BD-B78C-3D36F9BA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0A9972-66C7-44A0-B9B3-A3843C0B8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71625"/>
            <a:ext cx="10287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Variables sensibles et proxys : sexe, boursier, établissement d'origine.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Finalité limitée : aider, jamais sanctionner ni orienter automatiquement.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Bronze restreint ; Silver pseudonymisé HMAC ; Gold sans identifiants directs.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Rétention, purge et privacy_audit_log rendent l'accountability vérifiable.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Audit d'équité continu : retirer une variable sensible ne supprime pas ses proxys.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14C10-EECE-493C-B002-7B513E3F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53000"/>
            <a:ext cx="9429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EBEE9-1F12-47C5-A033-88C8A4FE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067300"/>
            <a:ext cx="908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Décision humaine · minimisation · explicabilité · droit au recours</a:t>
            </a:r>
          </a:p>
        </p:txBody>
      </p:sp>
    </p:spTree>
    <p:extLst>
      <p:ext uri="{BB962C8B-B14F-4D97-AF65-F5344CB8AC3E}">
        <p14:creationId xmlns:p14="http://schemas.microsoft.com/office/powerpoint/2010/main" val="15667626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ACCD09-732F-4795-AE3A-7C94AEF1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5. Préparation des données — C3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6D503-BF86-49C4-905C-0435E808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D77812-C254-46A8-877B-BE29D517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CC5E6A-9990-4C59-B6F5-E875FE86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3333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8"/>
          </a:solidFill>
          <a:ln xmlns:a="http://schemas.openxmlformats.org/drawingml/2006/main" w="9525">
            <a:solidFill>
              <a:srgbClr val="B95D4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78FED-9344-4343-8551-56726541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43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B95D48"/>
                </a:solidFill>
              </a:defRPr>
            </a:pPr>
            <a:r>
              <a:rPr sz="1875" b="1">
                <a:solidFill>
                  <a:srgbClr val="B95D48"/>
                </a:solidFill>
              </a:rPr>
              <a:t>BRONZE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B1BCD4-92EF-44BE-A920-974D27AA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24125"/>
            <a:ext cx="285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Sources 1:1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Traçabilité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Accès restreint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7C751B-087D-48C3-9213-813AFD48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76400"/>
            <a:ext cx="3333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2E6F9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4480E4-004E-4A44-B0A1-A989DE95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43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E6F9E"/>
                </a:solidFill>
              </a:defRPr>
            </a:pPr>
            <a:r>
              <a:rPr sz="1875" b="1">
                <a:solidFill>
                  <a:srgbClr val="2E6F9E"/>
                </a:solidFill>
              </a:rPr>
              <a:t>SILVER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1B5E54-B51F-415C-AD06-B9E6277C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24125"/>
            <a:ext cx="285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Dédoublonnage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Parsing et normalisation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Pseudonymisation HMAC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3C46F7-1F15-4A64-ADAC-74C37666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76400"/>
            <a:ext cx="3333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55F22F-BA1B-42FD-AEDF-2886D99F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43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F7D67"/>
                </a:solidFill>
              </a:defRPr>
            </a:pPr>
            <a:r>
              <a:rPr sz="1875" b="1">
                <a:solidFill>
                  <a:srgbClr val="2F7D67"/>
                </a:solidFill>
              </a:rPr>
              <a:t>GOLD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0FBC72-1193-4130-87A9-A0BB294A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24125"/>
            <a:ext cx="285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Features mi-S1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Labels + split</a:t>
            </a:r>
          </a:p>
          <a:p xmlns:a="http://schemas.openxmlformats.org/drawingml/2006/main">
            <a:pPr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Source unique ML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2B35AA-7DA3-4BF2-83DA-8AEA52EE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3875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3B57"/>
                </a:solidFill>
              </a:defRPr>
            </a:pPr>
            <a:r>
              <a:rPr sz="1500" b="1">
                <a:solidFill>
                  <a:srgbClr val="173B57"/>
                </a:solidFill>
              </a:rPr>
              <a:t>Imputation et encodage appris dans la pipeline après le split : aucune information du test ne fuit vers l'entraînement.</a:t>
            </a:r>
          </a:p>
        </p:txBody>
      </p:sp>
    </p:spTree>
    <p:extLst>
      <p:ext uri="{BB962C8B-B14F-4D97-AF65-F5344CB8AC3E}">
        <p14:creationId xmlns:p14="http://schemas.microsoft.com/office/powerpoint/2010/main" val="4877526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800B8-4593-4948-9C95-68C9C6B1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6. EDA — facteurs de risque &amp; preuve des leurres — C3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8533F-D901-4DA0-9C20-3276CBE0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E4AEBD-DB51-43FC-8F15-37FF41E0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8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bee096b6c44c8"/>
          <a:stretch xmlns:a="http://schemas.openxmlformats.org/drawingml/2006/main"/>
        </p:blipFill>
        <p:spPr>
          <a:xfrm xmlns:a="http://schemas.openxmlformats.org/drawingml/2006/main">
            <a:off x="647700" y="1664466"/>
            <a:ext cx="7239000" cy="357669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FB363C-F907-4B56-932C-915A561E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80975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Décrocheurs : moins de présence, LMS et rendus ; plus de retards.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Leurres : taux d'abandon plat entre modalités.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Signaux disponibles et actionnables à mi-S1.</a:t>
            </a:r>
          </a:p>
        </p:txBody>
      </p:sp>
    </p:spTree>
    <p:extLst>
      <p:ext uri="{BB962C8B-B14F-4D97-AF65-F5344CB8AC3E}">
        <p14:creationId xmlns:p14="http://schemas.microsoft.com/office/powerpoint/2010/main" val="9408593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29CBA1-626D-464D-A206-7F5E12B7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7. Choix du modèle — C4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349222-8478-4BD4-B38B-673F767AD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D0C3C8-2FCE-4208-B2D7-0B986BDC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9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28012767234e6b"/>
          <a:stretch xmlns:a="http://schemas.openxmlformats.org/drawingml/2006/main"/>
        </p:blipFill>
        <p:spPr>
          <a:xfrm xmlns:a="http://schemas.openxmlformats.org/drawingml/2006/main">
            <a:off x="1737823" y="1428750"/>
            <a:ext cx="5020654" cy="4286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1B765C-68E1-4B5F-9B9E-DD5C279CA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809750"/>
            <a:ext cx="304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73B57"/>
                </a:solidFill>
              </a:defRPr>
            </a:pPr>
            <a:r>
              <a:rPr sz="2550" b="1">
                <a:solidFill>
                  <a:srgbClr val="173B57"/>
                </a:solidFill>
              </a:rPr>
              <a:t>Régression</a:t>
            </a:r>
          </a:p>
          <a:p xmlns:a="http://schemas.openxmlformats.org/drawingml/2006/main">
            <a:pPr>
              <a:buNone/>
              <a:defRPr sz="2550" b="1">
                <a:solidFill>
                  <a:srgbClr val="173B57"/>
                </a:solidFill>
              </a:defRPr>
            </a:pPr>
            <a:r>
              <a:rPr sz="2550" b="1">
                <a:solidFill>
                  <a:srgbClr val="173B57"/>
                </a:solidFill>
              </a:rPr>
              <a:t>logistique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678676-67F2-4C86-979B-6748F301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000375"/>
            <a:ext cx="314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Meilleure AUC ou équivalente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Explicable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Sobre à entraîner et servir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66A12-C6E7-4BA2-8A20-74634B3B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0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F90FF-8933-4134-AA4D-D6D7E4A8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67300"/>
            <a:ext cx="2990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À performance égale, le modèle le plus lisible gagne.</a:t>
            </a:r>
          </a:p>
        </p:txBody>
      </p:sp>
    </p:spTree>
    <p:extLst>
      <p:ext uri="{BB962C8B-B14F-4D97-AF65-F5344CB8AC3E}">
        <p14:creationId xmlns:p14="http://schemas.microsoft.com/office/powerpoint/2010/main" val="17456626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A4F323-0246-4104-8D24-A85CF27E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8. Entraînement &amp; validation — C5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132DAF-0499-4D7B-9D4F-C5DFE0D5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855B6F-7754-409F-A45A-4D1E2690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754700-F6B2-4284-B738-FB909957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19250"/>
            <a:ext cx="9810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Split stratifié train / validation / test ; test final jamais utilisé pour choisir.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Régularisation C ajustée par validation croisée stratifiée, scoring AUC.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Déséquilibre ≈ 28 % : class_weight='balanced'.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Seuil métier choisi sur validation puis évalué sur test hold-out.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AUC CV ≈ AUC test : pas de surapprentissage visible.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2F5720-DEE0-41E6-B60E-4FDE5985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48250"/>
            <a:ext cx="9239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173B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440257-234B-48DF-A900-5A78C37F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5162550"/>
            <a:ext cx="889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B57"/>
                </a:solidFill>
              </a:defRPr>
            </a:pPr>
            <a:r>
              <a:rPr sz="1500" b="1">
                <a:solidFill>
                  <a:srgbClr val="173B57"/>
                </a:solidFill>
              </a:rPr>
              <a:t>Deux décisions séparées : apprendre le modèle, puis choisir le seuil d'action.</a:t>
            </a:r>
          </a:p>
        </p:txBody>
      </p:sp>
    </p:spTree>
    <p:extLst>
      <p:ext uri="{BB962C8B-B14F-4D97-AF65-F5344CB8AC3E}">
        <p14:creationId xmlns:p14="http://schemas.microsoft.com/office/powerpoint/2010/main" val="1523084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2A7907-CD41-4286-95DB-675DE9F8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9. Choix du seuil — raisonner en coût métier — C5 / C8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1197A-41CA-4F1C-A248-45FC8347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D2F7D-CEE6-4214-8512-D7AA4FAF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11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e92aeb09b04af7"/>
          <a:stretch xmlns:a="http://schemas.openxmlformats.org/drawingml/2006/main"/>
        </p:blipFill>
        <p:spPr>
          <a:xfrm xmlns:a="http://schemas.openxmlformats.org/drawingml/2006/main">
            <a:off x="628650" y="1447957"/>
            <a:ext cx="7239000" cy="396208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0B592C-D92E-4C13-ADD1-6F3E307C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B95D48"/>
                </a:solidFill>
              </a:defRPr>
            </a:pPr>
            <a:r>
              <a:rPr sz="2250" b="1">
                <a:solidFill>
                  <a:srgbClr val="B95D48"/>
                </a:solidFill>
              </a:rPr>
              <a:t>FN : FP = 5 :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44DF27-D6E1-4CDF-8324-2E38DA26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4125"/>
            <a:ext cx="33337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Un décrocheur manqué coûte davantage qu'une alerte inutile.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Seuil ≈ 0,30 choisi sur validation.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Test : rappel 95,9 % ; précision 63,5 %.</a:t>
            </a:r>
          </a:p>
        </p:txBody>
      </p:sp>
    </p:spTree>
    <p:extLst>
      <p:ext uri="{BB962C8B-B14F-4D97-AF65-F5344CB8AC3E}">
        <p14:creationId xmlns:p14="http://schemas.microsoft.com/office/powerpoint/2010/main" val="4233758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92D1F4-026F-411E-8E10-329D3B9F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10. Résultats — performance — C8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8E5819-C2D5-4705-933F-C9D1E7B8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ADC9BC-F862-4ED1-A3A5-756DF84B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12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31af8eb41e4dc6"/>
          <a:stretch xmlns:a="http://schemas.openxmlformats.org/drawingml/2006/main"/>
        </p:blipFill>
        <p:spPr>
          <a:xfrm xmlns:a="http://schemas.openxmlformats.org/drawingml/2006/main">
            <a:off x="1343206" y="1571625"/>
            <a:ext cx="4743089" cy="3762375"/>
          </a:xfrm>
          <a:prstGeom xmlns:a="http://schemas.openxmlformats.org/drawingml/2006/main" prst="rect">
            <a:avLst/>
          </a:prstGeom>
        </p:spPr>
      </p:pic>
      <p:graphicFrame>
        <p:nvGraphicFramePr>
          <p:cNvPr id="15" name=""/>
          <p:cNvGraphicFramePr/>
          <p:nvPr/>
        </p:nvGraphicFramePr>
        <p:xfrm>
          <a:off xmlns:a="http://schemas.openxmlformats.org/drawingml/2006/main" x="7239000" y="2047875"/>
          <a:ext xmlns:a="http://schemas.openxmlformats.org/drawingml/2006/main" cx="390525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1524000"/>
              </a:tblGrid>
              <a:tr h="642938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B252C"/>
                          </a:solidFill>
                        </a:rPr>
                        <a:t>Indicateur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B252C"/>
                          </a:solidFill>
                        </a:rPr>
                        <a:t>Valeur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B252C"/>
                          </a:solidFill>
                        </a:rPr>
                        <a:t>AUC test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B252C"/>
                          </a:solidFill>
                        </a:rPr>
                        <a:t>0,949</a:t>
                      </a:r>
                    </a:p>
                  </a:txBody>
                  <a:tcPr marL="91440" marR="91440" marT="45720" marB="45720"/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B252C"/>
                          </a:solidFill>
                        </a:rPr>
                        <a:t>Rappel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B252C"/>
                          </a:solidFill>
                        </a:rPr>
                        <a:t>0,959</a:t>
                      </a:r>
                    </a:p>
                  </a:txBody>
                  <a:tcPr marL="91440" marR="91440" marT="45720" marB="45720"/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B252C"/>
                          </a:solidFill>
                        </a:rPr>
                        <a:t>Précision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B252C"/>
                          </a:solidFill>
                        </a:rPr>
                        <a:t>0,635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44CBD5-8810-4B94-B3D8-D23FF7DB4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953000"/>
            <a:ext cx="44291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8"/>
          </a:solidFill>
          <a:ln xmlns:a="http://schemas.openxmlformats.org/drawingml/2006/main" w="9525">
            <a:solidFill>
              <a:srgbClr val="B95D4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02898B-6E5B-4B52-B7BC-DECC9CD2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5067300"/>
            <a:ext cx="40862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B95D48"/>
                </a:solidFill>
              </a:defRPr>
            </a:pPr>
            <a:r>
              <a:rPr sz="1500" b="1">
                <a:solidFill>
                  <a:srgbClr val="B95D48"/>
                </a:solidFill>
              </a:rPr>
              <a:t>Le compromis assume plus de faux positifs pour rater très peu de décrocheurs.</a:t>
            </a:r>
          </a:p>
        </p:txBody>
      </p:sp>
    </p:spTree>
    <p:extLst>
      <p:ext uri="{BB962C8B-B14F-4D97-AF65-F5344CB8AC3E}">
        <p14:creationId xmlns:p14="http://schemas.microsoft.com/office/powerpoint/2010/main" val="12702493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332020-43B5-45D8-8C69-F1706419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11. Explicabilité &amp; équité — C8 / 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811DD1-B12F-4E5D-91EB-EA3AF5A0A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A9CFB5-A216-462D-B806-CA3F7B40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13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789bd8257e4034"/>
          <a:stretch xmlns:a="http://schemas.openxmlformats.org/drawingml/2006/main"/>
        </p:blipFill>
        <p:spPr>
          <a:xfrm xmlns:a="http://schemas.openxmlformats.org/drawingml/2006/main">
            <a:off x="1511300" y="1314450"/>
            <a:ext cx="5549900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1AD4E8-9564-47CB-BA5B-9CD7E835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14500"/>
            <a:ext cx="31908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425">
                <a:solidFill>
                  <a:srgbClr val="1B252C"/>
                </a:solidFill>
              </a:defRPr>
            </a:pPr>
            <a:r>
              <a:rPr sz="1425">
                <a:solidFill>
                  <a:srgbClr val="1B252C"/>
                </a:solidFill>
              </a:rPr>
              <a:t>• Facteurs actionnables : présence, LMS, rendus, motivation.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425">
                <a:solidFill>
                  <a:srgbClr val="1B252C"/>
                </a:solidFill>
              </a:defRPr>
            </a:pPr>
            <a:r>
              <a:rPr sz="1425">
                <a:solidFill>
                  <a:srgbClr val="1B252C"/>
                </a:solidFill>
              </a:rPr>
              <a:t>• Rappel F/M/boursier : 0,946 à 0,966.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425">
                <a:solidFill>
                  <a:srgbClr val="1B252C"/>
                </a:solidFill>
              </a:defRPr>
            </a:pPr>
            <a:r>
              <a:rPr sz="1425">
                <a:solidFill>
                  <a:srgbClr val="1B252C"/>
                </a:solidFill>
              </a:rPr>
              <a:t>• Écart surveillé : 1,9 point, sous le gate de 10 points.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425">
                <a:solidFill>
                  <a:srgbClr val="1B252C"/>
                </a:solidFill>
              </a:defRPr>
            </a:pPr>
            <a:r>
              <a:rPr sz="1425">
                <a:solidFill>
                  <a:srgbClr val="1B252C"/>
                </a:solidFill>
              </a:rPr>
              <a:t>• Petits sous-groupes conservés comme signal d'investigation.</a:t>
            </a:r>
          </a:p>
        </p:txBody>
      </p:sp>
    </p:spTree>
    <p:extLst>
      <p:ext uri="{BB962C8B-B14F-4D97-AF65-F5344CB8AC3E}">
        <p14:creationId xmlns:p14="http://schemas.microsoft.com/office/powerpoint/2010/main" val="18253318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61D61E-582C-4652-84D1-62DA7B75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12. Cible secondaire — régression moyenne_finale — C8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6D5B0F-73E7-45D8-AA1B-0EFD2530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3DC9A8-6B28-4675-9884-A13AA6F3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14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25f95efaf648ef"/>
          <a:stretch xmlns:a="http://schemas.openxmlformats.org/drawingml/2006/main"/>
        </p:blipFill>
        <p:spPr>
          <a:xfrm xmlns:a="http://schemas.openxmlformats.org/drawingml/2006/main">
            <a:off x="1893398" y="1428750"/>
            <a:ext cx="4404704" cy="42386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D8070-1C71-44D2-9373-848A35A8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145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F7D67"/>
                </a:solidFill>
              </a:defRPr>
            </a:pPr>
            <a:r>
              <a:rPr sz="2550" b="1">
                <a:solidFill>
                  <a:srgbClr val="2F7D67"/>
                </a:solidFill>
              </a:rPr>
              <a:t>R² ≈ 0,68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EB2323-D7CB-4E37-B27A-CE290410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19375"/>
            <a:ext cx="328612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Erreur ≈ 2,3 points / 20.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Usage : calibrer l'intensité de l'aide.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moyenne_finale reste exclue des features de classification.</a:t>
            </a:r>
          </a:p>
        </p:txBody>
      </p:sp>
    </p:spTree>
    <p:extLst>
      <p:ext uri="{BB962C8B-B14F-4D97-AF65-F5344CB8AC3E}">
        <p14:creationId xmlns:p14="http://schemas.microsoft.com/office/powerpoint/2010/main" val="10805820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F84F96-DCE5-4BD5-BAA2-08D5DA46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13. Implémentation &amp; service — C6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F6FFD8-D804-4B2D-BA50-9FB64F02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E78E61-F697-472B-9FA0-E07EB801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7C5D84-94EE-46B6-8E14-A64D959D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E6F9E"/>
                </a:solidFill>
              </a:defRPr>
            </a:pPr>
            <a:r>
              <a:rPr sz="1875" b="1">
                <a:solidFill>
                  <a:srgbClr val="2E6F9E"/>
                </a:solidFill>
              </a:rPr>
              <a:t>BUILD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5B8A89-9CA8-478C-935F-00FC7966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47875"/>
            <a:ext cx="44767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Pipeline + seuil + catalogue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</a:t>
            </a:r>
            <a:r>
              <a:rPr sz="1575">
                <a:solidFill>
                  <a:srgbClr val="1B252C"/>
                </a:solidFill>
              </a:rPr>
              <a:t>CLI / API + limite de débit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Bronze / Silver / Gold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Docker non-root + CI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E283F0-FEBC-45F2-8948-22FAE3E8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76375"/>
            <a:ext cx="1905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79C5A4-4E68-47FF-9E18-BC077548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240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F7D67"/>
                </a:solidFill>
              </a:defRPr>
            </a:pPr>
            <a:r>
              <a:rPr sz="1875" b="1">
                <a:solidFill>
                  <a:srgbClr val="2F7D67"/>
                </a:solidFill>
              </a:rPr>
              <a:t>EXPLOITATION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E15C9-DF15-417F-9BB3-5172E199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47875"/>
            <a:ext cx="4762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</a:t>
            </a:r>
            <a:r>
              <a:rPr sz="1575">
                <a:solidFill>
                  <a:srgbClr val="1B252C"/>
                </a:solidFill>
              </a:rPr>
              <a:t>MLflow runs + registre / rollback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</a:t>
            </a:r>
            <a:r>
              <a:rPr sz="1575">
                <a:solidFill>
                  <a:srgbClr val="1B252C"/>
                </a:solidFill>
              </a:rPr>
              <a:t>Dashboard Grafana + /metrics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</a:t>
            </a:r>
            <a:r>
              <a:rPr sz="1575">
                <a:solidFill>
                  <a:srgbClr val="1B252C"/>
                </a:solidFill>
              </a:rPr>
              <a:t>APScheduler + heartbeat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• Caddy HTTPS + runbook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FA22ED-214C-4781-8343-5630D5CA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38750"/>
            <a:ext cx="876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EE7146-C173-4983-915C-AFA41CF3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353050"/>
            <a:ext cx="842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48 tests automatisés : le cycle de vie est démontrable hors notebook.</a:t>
            </a:r>
          </a:p>
        </p:txBody>
      </p:sp>
    </p:spTree>
    <p:extLst>
      <p:ext uri="{BB962C8B-B14F-4D97-AF65-F5344CB8AC3E}">
        <p14:creationId xmlns:p14="http://schemas.microsoft.com/office/powerpoint/2010/main" val="148890903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425916-0592-4BF1-BA77-5D757FBF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14. Persistance SQL &amp; architecture médaillon — C7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7B59E0-2E79-4F92-9FC3-015D1DE9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AEDBD9-3756-44A0-87E6-98CE2D33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0AF522-2E6C-42C0-8FDF-80C1B1CC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144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3B57"/>
                </a:solidFill>
              </a:defRPr>
            </a:pPr>
            <a:r>
              <a:rPr sz="1500" b="1">
                <a:solidFill>
                  <a:srgbClr val="173B57"/>
                </a:solidFill>
              </a:rPr>
              <a:t>Ingestion → Bronze → Silver → Gold → Entraînement / Scoring → API / CLI → Monitoring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781050" y="2000250"/>
          <a:ext xmlns:a="http://schemas.openxmlformats.org/drawingml/2006/main" cx="106299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4857750"/>
                <a:gridCol w="3867150"/>
              </a:tblGrid>
              <a:tr h="73818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Couche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Rôle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Données personnelles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Bronze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Lignes sources brutes, traçabilité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Restreintes, purgées</a:t>
                      </a:r>
                    </a:p>
                  </a:txBody>
                  <a:tcPr marL="91440" marR="91440" marT="45720" marB="45720"/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Silver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Nettoyage + normalisation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IDs remplacés par HMAC</a:t>
                      </a:r>
                    </a:p>
                  </a:txBody>
                  <a:tcPr marL="91440" marR="91440" marT="45720" marB="45720"/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Gold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Features, split, scores, drift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Aucun identifiant direct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CB6863-4D37-4D25-8EE7-A616D110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3400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5D6B76"/>
                </a:solidFill>
              </a:defRPr>
            </a:pPr>
            <a:r>
              <a:rPr sz="1425">
                <a:solidFill>
                  <a:srgbClr val="5D6B76"/>
                </a:solidFill>
              </a:rPr>
              <a:t>Postgres via Docker Compose en cible · SQLite local ignoré par Git en développement</a:t>
            </a:r>
          </a:p>
        </p:txBody>
      </p:sp>
    </p:spTree>
    <p:extLst>
      <p:ext uri="{BB962C8B-B14F-4D97-AF65-F5344CB8AC3E}">
        <p14:creationId xmlns:p14="http://schemas.microsoft.com/office/powerpoint/2010/main" val="7739826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4D7C0D-92E2-48F6-A278-C065D79F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E6F9E"/>
                </a:solidFill>
              </a:defRPr>
            </a:pPr>
            <a:r>
              <a:rPr sz="975" b="1">
                <a:solidFill>
                  <a:srgbClr val="2E6F9E"/>
                </a:solidFill>
              </a:rPr>
              <a:t>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904ED9-654B-424B-BA38-23244CBA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15. Architecture d'exploitation proportionnée — C7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68EDB-A1C4-49F9-912F-53DC6F3A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17AB6A-5483-473A-BB5B-DB0BBAD9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670C03-7F56-4198-96E0-C761F61C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B95D48"/>
                </a:solidFill>
              </a:defRPr>
            </a:pPr>
            <a:r>
              <a:rPr sz="1575" b="1">
                <a:solidFill>
                  <a:srgbClr val="B95D48"/>
                </a:solidFill>
              </a:rPr>
              <a:t>~5 200 étudiants/an · batch mi-S1 · API peu sollicitée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7867650"/>
              </a:tblGrid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Choix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Décision adaptée au projet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Hébergement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VPS européen conteneurisé ; Kubernetes écarté</a:t>
                      </a:r>
                    </a:p>
                  </a:txBody>
                  <a:tcPr marL="91440" marR="91440" marT="45720" marB="45720"/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Sécurité réseau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Caddy reverse-proxy + HTTPS automatique</a:t>
                      </a:r>
                    </a:p>
                  </a:txBody>
                  <a:tcPr marL="91440" marR="91440" marT="45720" marB="45720"/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Données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Postgres + sauvegarde hors hôte + secrets hors Git</a:t>
                      </a:r>
                    </a:p>
                  </a:txBody>
                  <a:tcPr marL="91440" marR="91440" marT="45720" marB="45720"/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Disponibilité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/health + /ready ; pas de HA sans SLA</a:t>
                      </a:r>
                    </a:p>
                  </a:txBody>
                  <a:tcPr marL="91440" marR="91440" marT="45720" marB="45720"/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B252C"/>
                          </a:solidFill>
                        </a:rPr>
                        <a:t>Budget indicatif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52C"/>
                          </a:solidFill>
                        </a:rPr>
                        <a:t>10–20 €/mois ; +5–10 € pour le test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E64C5-31CD-4DC3-98FF-67084603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9525">
            <a:solidFill>
              <a:srgbClr val="173B5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BA3E46-F04D-4121-A775-8E38E9D4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524500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3B57"/>
                </a:solidFill>
              </a:defRPr>
            </a:pPr>
            <a:r>
              <a:rPr sz="1500" b="1">
                <a:solidFill>
                  <a:srgbClr val="173B57"/>
                </a:solidFill>
              </a:rPr>
              <a:t>Les conteneurs rendent l'évolution réversible : migrer plus tard sans réécrire.</a:t>
            </a:r>
          </a:p>
        </p:txBody>
      </p:sp>
    </p:spTree>
    <p:extLst>
      <p:ext uri="{BB962C8B-B14F-4D97-AF65-F5344CB8AC3E}">
        <p14:creationId xmlns:p14="http://schemas.microsoft.com/office/powerpoint/2010/main" val="14203252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BBD80E-8A30-4A0C-AE6B-EF9E848B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E6F9E"/>
                </a:solidFill>
              </a:defRPr>
            </a:pPr>
            <a:r>
              <a:rPr sz="975" b="1">
                <a:solidFill>
                  <a:srgbClr val="2E6F9E"/>
                </a:solidFill>
              </a:rPr>
              <a:t>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434A16-EDB6-40FA-A3D1-0142C13F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16. Cycle de vie du modèle — C9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51E97B-46BF-46D6-AB4A-2738F002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A840D5-9542-45F5-890F-ED8A931C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179AA-F96F-4B12-BBFF-CF5609F6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097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E6F9E"/>
                </a:solidFill>
              </a:defRPr>
            </a:pPr>
            <a:r>
              <a:rPr sz="2100" b="1">
                <a:solidFill>
                  <a:srgbClr val="2E6F9E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040C83-4C07-4D47-BF87-FDAA8C42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4097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B57"/>
                </a:solidFill>
              </a:defRPr>
            </a:pPr>
            <a:r>
              <a:rPr sz="1725" b="1">
                <a:solidFill>
                  <a:srgbClr val="173B57"/>
                </a:solidFill>
              </a:rPr>
              <a:t>Contrôler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6731C0-5217-427B-85B6-46FA2CF4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428750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PSI hebdomadaire + chaque batch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49F24B-4E89-4B58-9A0E-DB2C39E7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62150"/>
            <a:ext cx="9477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9F5E0A-841F-47C4-AFEC-E3D0AC0D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479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E6F9E"/>
                </a:solidFill>
              </a:defRPr>
            </a:pPr>
            <a:r>
              <a:rPr sz="2100" b="1">
                <a:solidFill>
                  <a:srgbClr val="2E6F9E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9760D6-9510-4959-A3FF-2F8D203C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479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B57"/>
                </a:solidFill>
              </a:defRPr>
            </a:pPr>
            <a:r>
              <a:rPr sz="1725" b="1">
                <a:solidFill>
                  <a:srgbClr val="173B57"/>
                </a:solidFill>
              </a:rPr>
              <a:t>Décider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B8946C-796D-4BD9-8B89-6FEFD603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66950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Dérive / performance / revue annuelle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9156CD-9097-4463-A0E4-85600530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9477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67F3FC-B4A1-438F-94B9-E702C463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E6F9E"/>
                </a:solidFill>
              </a:defRPr>
            </a:pPr>
            <a:r>
              <a:rPr sz="2100" b="1">
                <a:solidFill>
                  <a:srgbClr val="2E6F9E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E7F787-E77B-43AC-ABE6-F08F9DC4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861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B57"/>
                </a:solidFill>
              </a:defRPr>
            </a:pPr>
            <a:r>
              <a:rPr sz="1725" b="1">
                <a:solidFill>
                  <a:srgbClr val="173B57"/>
                </a:solidFill>
              </a:rPr>
              <a:t>Entraîner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348CAE-D899-4116-B4A3-90B54013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05150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Candidat tracé dans MLflow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7941FF-2B5E-48D2-A61C-1B043532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38550"/>
            <a:ext cx="9477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32C0A6-4FD5-4DF5-B931-32E0A225D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243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E6F9E"/>
                </a:solidFill>
              </a:defRPr>
            </a:pPr>
            <a:r>
              <a:rPr sz="2100" b="1">
                <a:solidFill>
                  <a:srgbClr val="2E6F9E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F025D5-DB25-4BAB-8D9F-815E3DA8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B57"/>
                </a:solidFill>
              </a:defRPr>
            </a:pPr>
            <a:r>
              <a:rPr sz="1725" b="1">
                <a:solidFill>
                  <a:srgbClr val="173B57"/>
                </a:solidFill>
              </a:rPr>
              <a:t>Valider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A11179-A24C-4B1A-A003-A322F37F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43350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Gate technique + approbation humaine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35FFA8-8C72-4207-A87D-51927D2C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76750"/>
            <a:ext cx="9477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132917-AE4A-4DD5-A7F4-46EEBF7C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E6F9E"/>
                </a:solidFill>
              </a:defRPr>
            </a:pPr>
            <a:r>
              <a:rPr sz="2100" b="1">
                <a:solidFill>
                  <a:srgbClr val="2E6F9E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A7DEBB-50F4-4645-8B1C-FF92E9C7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62500"/>
            <a:ext cx="1952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B57"/>
                </a:solidFill>
              </a:defRPr>
            </a:pPr>
            <a:r>
              <a:rPr sz="1725" b="1">
                <a:solidFill>
                  <a:srgbClr val="173B57"/>
                </a:solidFill>
              </a:rPr>
              <a:t>Exploiter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FF1AED-65FE-451E-A401-7BFB257D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781550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B252C"/>
                </a:solidFill>
              </a:defRPr>
            </a:pPr>
            <a:r>
              <a:rPr sz="1575">
                <a:solidFill>
                  <a:srgbClr val="1B252C"/>
                </a:solidFill>
              </a:rPr>
              <a:t>Promotion ou rollback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12B7F1-4594-454A-8803-8CA10FF5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67375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9900D6-9043-45C7-A04C-E090F176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781675"/>
            <a:ext cx="842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Gate : AUC ≥ 0,85 · rappel ≥ 0,90 sans régression · écart équité ≤ 10 pts</a:t>
            </a:r>
          </a:p>
        </p:txBody>
      </p:sp>
    </p:spTree>
    <p:extLst>
      <p:ext uri="{BB962C8B-B14F-4D97-AF65-F5344CB8AC3E}">
        <p14:creationId xmlns:p14="http://schemas.microsoft.com/office/powerpoint/2010/main" val="203921664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6A315D-01F8-4E8F-B0CE-B4C32C47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E6F9E"/>
                </a:solidFill>
              </a:defRPr>
            </a:pPr>
            <a:r>
              <a:rPr sz="975" b="1">
                <a:solidFill>
                  <a:srgbClr val="2E6F9E"/>
                </a:solidFill>
              </a:rPr>
              <a:t>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FA5665-8B55-4DEF-9052-79FE1DF95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17. Supervision et alertes — C8 / C9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A9780C-72B8-415C-B02C-2100F61D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F1F5E-AE15-402C-80BF-D11A48929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19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42950" y="1619250"/>
          <a:ext xmlns:a="http://schemas.openxmlformats.org/drawingml/2006/main" cx="107061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7658100"/>
              </a:tblGrid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Besoin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Réponse</a:t>
                      </a:r>
                    </a:p>
                  </a:txBody>
                  <a:tcPr marL="91440" marR="91440" marT="45720" marB="45720">
                    <a:solidFill>
                      <a:srgbClr val="EAF2F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Vue Run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Dashboard Grafana : disponibilité, débit, statuts, latence p95</a:t>
                      </a:r>
                    </a:p>
                  </a:txBody>
                  <a:tcPr marL="91440" marR="91440" marT="45720" marB="45720"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Incident technique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API indisponible ou 5xx &gt; 1 % pendant 5 min</a:t>
                      </a:r>
                    </a:p>
                  </a:txBody>
                  <a:tcPr marL="91440" marR="91440" marT="45720" marB="45720"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Tâche silencieuse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Heartbeat absent : contrôle de dérive / réentraînement</a:t>
                      </a:r>
                    </a:p>
                  </a:txBody>
                  <a:tcPr marL="91440" marR="91440" marT="45720" marB="45720"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B252C"/>
                          </a:solidFill>
                        </a:rPr>
                        <a:t>Critique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B252C"/>
                          </a:solidFill>
                        </a:rPr>
                        <a:t>Astreinte DSI pendant la fenêtre de scoring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50A64-0CDF-4A5F-8491-D4D902C6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91125"/>
            <a:ext cx="9334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8"/>
          </a:solidFill>
          <a:ln xmlns:a="http://schemas.openxmlformats.org/drawingml/2006/main" w="9525">
            <a:solidFill>
              <a:srgbClr val="B95D4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7986C7-7D53-4F6C-BF7E-DFB21BB2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305425"/>
            <a:ext cx="899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B95D48"/>
                </a:solidFill>
              </a:defRPr>
            </a:pPr>
            <a:r>
              <a:rPr sz="1500" b="1">
                <a:solidFill>
                  <a:srgbClr val="B95D48"/>
                </a:solidFill>
              </a:rPr>
              <a:t>Hystérésis + cooldown 24 h : une dérive persistante ne spamme pas l'équipe.</a:t>
            </a:r>
          </a:p>
        </p:txBody>
      </p:sp>
    </p:spTree>
    <p:extLst>
      <p:ext uri="{BB962C8B-B14F-4D97-AF65-F5344CB8AC3E}">
        <p14:creationId xmlns:p14="http://schemas.microsoft.com/office/powerpoint/2010/main" val="18132739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800B8-4593-4948-9C95-68C9C6B1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17.1 Grafana confirme un service disponible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8533F-D901-4DA0-9C20-3276CBE0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E4AEBD-DB51-43FC-8F15-37FF41E0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FB363C-F907-4B56-932C-915A561E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80975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Service disponible en temps réel.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Débit, erreurs 5xx et latence p95.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Mesures issues du conteneur API.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af3264b667440a"/>
          <a:stretch xmlns:a="http://schemas.openxmlformats.org/drawingml/2006/main"/>
        </p:blipFill>
        <p:spPr>
          <a:xfrm xmlns:a="http://schemas.openxmlformats.org/drawingml/2006/main">
            <a:off x="1087882" y="1664494"/>
            <a:ext cx="6358636" cy="357673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85937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F84F96-DCE5-4BD5-BAA2-08D5DA46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17.2 Prometheus collecte, Grafana alerte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F6FFD8-D804-4B2D-BA50-9FB64F02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E78E61-F697-472B-9FA0-E07EB801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7C5D84-94EE-46B6-8E14-A64D959D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E6F9E"/>
                </a:solidFill>
              </a:defRPr>
            </a:pPr>
            <a:r>
              <a:rPr sz="1875" b="1">
                <a:solidFill>
                  <a:srgbClr val="2E6F9E"/>
                </a:solidFill>
              </a:rPr>
              <a:t>PROMETHEUS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E283F0-FEBC-45F2-8948-22FAE3E8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76375"/>
            <a:ext cx="1905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79C5A4-4E68-47FF-9E18-BC077548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240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2F7D67"/>
                </a:solidFill>
              </a:defRPr>
            </a:pPr>
            <a:r>
              <a:rPr sz="1875" b="1">
                <a:solidFill>
                  <a:srgbClr val="2F7D67"/>
                </a:solidFill>
              </a:rPr>
              <a:t>ALERTES GRAFANA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FA22ED-214C-4781-8343-5630D5CA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38750"/>
            <a:ext cx="876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EE7146-C173-4983-915C-AFA41CF3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353050"/>
            <a:ext cx="8420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La collecte et l’évaluation s’exécutent dans Docker, hors du notebook.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caa08996804c62"/>
          <a:stretch xmlns:a="http://schemas.openxmlformats.org/drawingml/2006/main"/>
        </p:blipFill>
        <p:spPr>
          <a:xfrm xmlns:a="http://schemas.openxmlformats.org/drawingml/2006/main">
            <a:off x="857250" y="2090208"/>
            <a:ext cx="4476750" cy="2487083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36cb4c3b424f58"/>
          <a:stretch xmlns:a="http://schemas.openxmlformats.org/drawingml/2006/main"/>
        </p:blipFill>
        <p:spPr>
          <a:xfrm xmlns:a="http://schemas.openxmlformats.org/drawingml/2006/main">
            <a:off x="6477000" y="2445869"/>
            <a:ext cx="4762500" cy="17757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890903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800B8-4593-4948-9C95-68C9C6B1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17.3 Caddy expose l’API en HTTPS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8533F-D901-4DA0-9C20-3276CBE0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E4AEBD-DB51-43FC-8F15-37FF41E0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FB363C-F907-4B56-932C-915A561E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80975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Terminaison HTTPS par Caddy.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Reverse proxy vers l’API.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En-têtes de sécurité actifs.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9610fae794954"/>
          <a:stretch xmlns:a="http://schemas.openxmlformats.org/drawingml/2006/main"/>
        </p:blipFill>
        <p:spPr>
          <a:xfrm xmlns:a="http://schemas.openxmlformats.org/drawingml/2006/main">
            <a:off x="1087882" y="1664494"/>
            <a:ext cx="6358636" cy="357673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85937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EF4890-9B9D-49B8-8E66-C8B95DB92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07ED5F-E122-445D-A3DB-8D1E7D30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B57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173B57"/>
                </a:solidFill>
                <a:latin typeface="Calibri"/>
                <a:ea typeface="Calibri"/>
                <a:cs typeface="Calibri"/>
              </a:rPr>
              <a:t>17.4 MLflow trace les entraînements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7CD27F-F725-4817-9758-4574DEEC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7C2388-3E61-4948-8C05-7A26EFD1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85929B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5929B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487068ba464352"/>
          <a:stretch xmlns:a="http://schemas.openxmlformats.org/drawingml/2006/main"/>
        </p:blipFill>
        <p:spPr>
          <a:xfrm xmlns:a="http://schemas.openxmlformats.org/drawingml/2006/main">
            <a:off x="609600" y="1432322"/>
            <a:ext cx="7810500" cy="4393406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721F2-3104-4973-A3A5-BB006390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09750"/>
            <a:ext cx="2762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B252C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B252C"/>
                </a:solidFill>
                <a:latin typeface="Calibri"/>
                <a:ea typeface="Calibri"/>
                <a:cs typeface="Calibri"/>
              </a:rPr>
              <a:t>• Paramètres et métriques.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1B252C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B252C"/>
                </a:solidFill>
                <a:latin typeface="Calibri"/>
                <a:ea typeface="Calibri"/>
                <a:cs typeface="Calibri"/>
              </a:rPr>
              <a:t>• Rapport JSON et bundle.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1B252C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B252C"/>
                </a:solidFill>
                <a:latin typeface="Calibri"/>
                <a:ea typeface="Calibri"/>
                <a:cs typeface="Calibri"/>
              </a:rPr>
              <a:t>• Deux exécutions indépendantes.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F38D49-5C51-40F5-8A88-07033525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57750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B7F6E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2B7F6E"/>
                </a:solidFill>
                <a:latin typeface="Calibri"/>
                <a:ea typeface="Calibri"/>
                <a:cs typeface="Calibri"/>
              </a:rPr>
              <a:t>Chaque version reste reliée au run qui a produit son artefact.</a:t>
            </a:r>
          </a:p>
        </p:txBody>
      </p:sp>
    </p:spTree>
    <p:extLst>
      <p:ext uri="{BB962C8B-B14F-4D97-AF65-F5344CB8AC3E}">
        <p14:creationId xmlns:p14="http://schemas.microsoft.com/office/powerpoint/2010/main" val="109644947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92F17D-E081-4B50-9B1B-EAABECA7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CFA318-C193-4927-B603-BE769175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B57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173B57"/>
                </a:solidFill>
                <a:latin typeface="Calibri"/>
                <a:ea typeface="Calibri"/>
                <a:cs typeface="Calibri"/>
              </a:rPr>
              <a:t>17.5 Versions, promotion et rollback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FAFF25-972A-43FA-8046-72DF3C82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2A7313-DB3F-4B9A-8809-098C58AD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85929B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5929B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930f7f3bf84910"/>
          <a:stretch xmlns:a="http://schemas.openxmlformats.org/drawingml/2006/main"/>
        </p:blipFill>
        <p:spPr>
          <a:xfrm xmlns:a="http://schemas.openxmlformats.org/drawingml/2006/main">
            <a:off x="1693333" y="1219200"/>
            <a:ext cx="8805333" cy="4953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3428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C4E374-7307-4EC7-A406-D5DD65D0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0C839B-462F-44ED-A424-3D27C653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3B57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173B57"/>
                </a:solidFill>
                <a:latin typeface="Calibri"/>
                <a:ea typeface="Calibri"/>
                <a:cs typeface="Calibri"/>
              </a:rPr>
              <a:t>17.6 Journaux JSON corrélés et bornés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DD19E-7DAB-4C41-9FFC-B8351A3A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F21DB0-7635-4347-B2DF-7A4AFD57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85929B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5929B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9265A3-1CA4-4BA4-A153-87AAC5E1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B7F6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2B7F6E"/>
                </a:solidFill>
                <a:latin typeface="Calibri"/>
                <a:ea typeface="Calibri"/>
                <a:cs typeface="Calibri"/>
              </a:rPr>
              <a:t>UNE TRACE EXPLOITABLE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8E3400-5A29-441B-B3A5-5AB256D2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10668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9"/>
          </a:solidFill>
          <a:ln xmlns:a="http://schemas.openxmlformats.org/drawingml/2006/main" w="9525">
            <a:solidFill>
              <a:srgbClr val="CFDC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B252C"/>
                </a:solidFill>
                <a:latin typeface="Consolas"/>
                <a:ea typeface="Consolas"/>
                <a:cs typeface="Consolas"/>
              </a:defRPr>
            </a:pPr>
            <a:r>
              <a:rPr sz="1275">
                <a:solidFill>
                  <a:srgbClr val="1B252C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defRPr sz="1275">
                <a:solidFill>
                  <a:srgbClr val="1B252C"/>
                </a:solidFill>
                <a:latin typeface="Consolas"/>
                <a:ea typeface="Consolas"/>
                <a:cs typeface="Consolas"/>
              </a:defRPr>
            </a:pPr>
            <a:r>
              <a:rPr sz="1275">
                <a:solidFill>
                  <a:srgbClr val="1B252C"/>
                </a:solidFill>
                <a:latin typeface="Consolas"/>
                <a:ea typeface="Consolas"/>
                <a:cs typeface="Consolas"/>
              </a:rPr>
              <a:t>  "timestamp":"2026-07-21T14:05:24+00:00", "level":"INFO",</a:t>
            </a:r>
          </a:p>
          <a:p xmlns:a="http://schemas.openxmlformats.org/drawingml/2006/main">
            <a:pPr>
              <a:defRPr sz="1275">
                <a:solidFill>
                  <a:srgbClr val="1B252C"/>
                </a:solidFill>
                <a:latin typeface="Consolas"/>
                <a:ea typeface="Consolas"/>
                <a:cs typeface="Consolas"/>
              </a:defRPr>
            </a:pPr>
            <a:r>
              <a:rPr sz="1275">
                <a:solidFill>
                  <a:srgbClr val="1B252C"/>
                </a:solidFill>
                <a:latin typeface="Consolas"/>
                <a:ea typeface="Consolas"/>
                <a:cs typeface="Consolas"/>
              </a:rPr>
              <a:t>  "event":"api_request", "request_id":"jury-log-proof-001",</a:t>
            </a:r>
          </a:p>
          <a:p xmlns:a="http://schemas.openxmlformats.org/drawingml/2006/main">
            <a:pPr>
              <a:defRPr sz="1275">
                <a:solidFill>
                  <a:srgbClr val="1B252C"/>
                </a:solidFill>
                <a:latin typeface="Consolas"/>
                <a:ea typeface="Consolas"/>
                <a:cs typeface="Consolas"/>
              </a:defRPr>
            </a:pPr>
            <a:r>
              <a:rPr sz="1275">
                <a:solidFill>
                  <a:srgbClr val="1B252C"/>
                </a:solidFill>
                <a:latin typeface="Consolas"/>
                <a:ea typeface="Consolas"/>
                <a:cs typeface="Consolas"/>
              </a:rPr>
              <a:t>  "method":"GET", "path":"/health", "status":200, "duration_ms":2.45</a:t>
            </a:r>
          </a:p>
          <a:p xmlns:a="http://schemas.openxmlformats.org/drawingml/2006/main">
            <a:pPr>
              <a:defRPr sz="1275">
                <a:solidFill>
                  <a:srgbClr val="1B252C"/>
                </a:solidFill>
                <a:latin typeface="Consolas"/>
                <a:ea typeface="Consolas"/>
                <a:cs typeface="Consolas"/>
              </a:defRPr>
            </a:pPr>
            <a:r>
              <a:rPr sz="1275">
                <a:solidFill>
                  <a:srgbClr val="1B252C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E3BAD-2D94-48D2-8F9F-7C7C9A8C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762375"/>
            <a:ext cx="10191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B252C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B252C"/>
                </a:solidFill>
                <a:latin typeface="Calibri"/>
                <a:ea typeface="Calibri"/>
                <a:cs typeface="Calibri"/>
              </a:rPr>
              <a:t>• Une ligne JSON par requête, sans payload étudiant ni clé API.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>
                <a:solidFill>
                  <a:srgbClr val="1B252C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B252C"/>
                </a:solidFill>
                <a:latin typeface="Calibri"/>
                <a:ea typeface="Calibri"/>
                <a:cs typeface="Calibri"/>
              </a:rPr>
              <a:t>• X-Request-ID relie la réponse au journal technique.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>
                <a:solidFill>
                  <a:srgbClr val="1B252C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B252C"/>
                </a:solidFill>
                <a:latin typeface="Calibri"/>
                <a:ea typeface="Calibri"/>
                <a:cs typeface="Calibri"/>
              </a:rPr>
              <a:t>• Rotation Docker : 10 Mo par fichier, 5 fichiers conservés.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C6751A-0FE9-4D56-9103-F8D3B1E6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72125"/>
            <a:ext cx="8953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1"/>
          </a:solidFill>
          <a:ln xmlns:a="http://schemas.openxmlformats.org/drawingml/2006/main" w="9525">
            <a:solidFill>
              <a:srgbClr val="6AA99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B7F6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2B7F6E"/>
                </a:solidFill>
                <a:latin typeface="Calibri"/>
                <a:ea typeface="Calibri"/>
                <a:cs typeface="Calibri"/>
              </a:rPr>
              <a:t>Traçabilité utile, exposition des données minimisée.</a:t>
            </a:r>
          </a:p>
        </p:txBody>
      </p:sp>
    </p:spTree>
    <p:extLst>
      <p:ext uri="{BB962C8B-B14F-4D97-AF65-F5344CB8AC3E}">
        <p14:creationId xmlns:p14="http://schemas.microsoft.com/office/powerpoint/2010/main" val="17771761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E5B9D7-38EE-457C-8A4A-0FADE80F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E6F9E"/>
                </a:solidFill>
              </a:defRPr>
            </a:pPr>
            <a:r>
              <a:rPr sz="975" b="1">
                <a:solidFill>
                  <a:srgbClr val="2E6F9E"/>
                </a:solidFill>
              </a:rPr>
              <a:t>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7216D8-1468-4494-9489-2281004F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18. TCO &amp; valeur du pilote — C7 / C9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350BB4-D686-490A-8D2F-F263F9C1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4B452A-4055-4478-8C17-CD03ADC6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B13EF8-6241-418B-B648-E2B10A90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750" b="1">
                <a:solidFill>
                  <a:srgbClr val="2E6F9E"/>
                </a:solidFill>
              </a:defRPr>
            </a:pPr>
            <a:r>
              <a:rPr sz="3750" b="1">
                <a:solidFill>
                  <a:srgbClr val="2E6F9E"/>
                </a:solidFill>
              </a:rPr>
              <a:t>TCO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905803-6BBE-402C-9A83-ADC024E7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95450"/>
            <a:ext cx="809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hébergement + sauvegardes + temps DSI/DPO + revue modèle + interventions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AC8204-DF35-4EB4-907D-DC5E173B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10382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CD97E2-724E-495C-A39F-C0868400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0512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2F7D67"/>
                </a:solidFill>
              </a:defRPr>
            </a:pPr>
            <a:r>
              <a:rPr sz="1800" b="1">
                <a:solidFill>
                  <a:srgbClr val="2F7D67"/>
                </a:solidFill>
              </a:rPr>
              <a:t>VALEUR DU PILOTE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E46928-A66E-4687-983D-46F6A227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5905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73B57"/>
                </a:solidFill>
              </a:defRPr>
            </a:pPr>
            <a:r>
              <a:rPr sz="2550" b="1">
                <a:solidFill>
                  <a:srgbClr val="173B57"/>
                </a:solidFill>
              </a:rPr>
              <a:t>étudiants utilement accompagnés</a:t>
            </a:r>
          </a:p>
          <a:p xmlns:a="http://schemas.openxmlformats.org/drawingml/2006/main">
            <a:pPr>
              <a:buNone/>
              <a:defRPr sz="2550" b="1">
                <a:solidFill>
                  <a:srgbClr val="173B57"/>
                </a:solidFill>
              </a:defRPr>
            </a:pPr>
            <a:r>
              <a:rPr sz="2550" b="1">
                <a:solidFill>
                  <a:srgbClr val="173B57"/>
                </a:solidFill>
              </a:rPr>
              <a:t>× effet causal du dispositif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8EA22-E80B-46F4-BC2C-D50D40CB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95625"/>
            <a:ext cx="4000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L'AUC ne mesure pas l'impact du tutorat.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Pilote progressif / A-B test nécessaire.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500">
                <a:solidFill>
                  <a:srgbClr val="1B252C"/>
                </a:solidFill>
              </a:defRPr>
            </a:pPr>
            <a:r>
              <a:rPr sz="1500">
                <a:solidFill>
                  <a:srgbClr val="1B252C"/>
                </a:solidFill>
              </a:rPr>
              <a:t>• Capacité des tuteurs et faux positifs intégrés au coût.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6CB9C7-47D3-4877-ACF2-AC6D9671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86375"/>
            <a:ext cx="8953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CE8"/>
          </a:solidFill>
          <a:ln xmlns:a="http://schemas.openxmlformats.org/drawingml/2006/main" w="9525">
            <a:solidFill>
              <a:srgbClr val="B95D4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BBC361-A596-4B17-8B12-B7D53D57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400675"/>
            <a:ext cx="8610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B95D48"/>
                </a:solidFill>
              </a:defRPr>
            </a:pPr>
            <a:r>
              <a:rPr sz="1500" b="1">
                <a:solidFill>
                  <a:srgbClr val="B95D48"/>
                </a:solidFill>
              </a:rPr>
              <a:t>Aucun gain financier inventé : hypothèses à valider avec l'université.</a:t>
            </a:r>
          </a:p>
        </p:txBody>
      </p:sp>
    </p:spTree>
    <p:extLst>
      <p:ext uri="{BB962C8B-B14F-4D97-AF65-F5344CB8AC3E}">
        <p14:creationId xmlns:p14="http://schemas.microsoft.com/office/powerpoint/2010/main" val="89367686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A77E1C-2B23-4094-9236-BEC86DCE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19. Limites &amp; recommandations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C52D35-FD95-46AD-B4E5-E2594CD9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992DBB-B67F-4143-BBCD-9C63D33D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912D26-5B00-4C7C-AFE8-09DFA87E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71625"/>
            <a:ext cx="10287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Données synthétiques : performance à revalider sur des cohortes réelles.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Corrélation ≠ causalité : mesurer l'effet du dispositif par pilote.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Production réelle : DPO, DPIA/AIPD, RBAC, coffre de secrets, sauvegardes testées.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Run réel : confirmer le TCO, brancher le canal d'alerte et planifier les jobs.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650">
                <a:solidFill>
                  <a:srgbClr val="1B252C"/>
                </a:solidFill>
              </a:defRPr>
            </a:pPr>
            <a:r>
              <a:rPr sz="1650">
                <a:solidFill>
                  <a:srgbClr val="1B252C"/>
                </a:solidFill>
              </a:rPr>
              <a:t>• Éthique : équité continue, explication, recours et formulation non stigmatisante.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0E887-5075-4E9D-BD88-37AFE440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95875"/>
            <a:ext cx="942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EF"/>
          </a:solidFill>
          <a:ln xmlns:a="http://schemas.openxmlformats.org/drawingml/2006/main" w="9525">
            <a:solidFill>
              <a:srgbClr val="2F7D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5FCA75-547D-494B-85C1-D42DEE26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210175"/>
            <a:ext cx="908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7D67"/>
                </a:solidFill>
              </a:defRPr>
            </a:pPr>
            <a:r>
              <a:rPr sz="1500" b="1">
                <a:solidFill>
                  <a:srgbClr val="2F7D67"/>
                </a:solidFill>
              </a:rPr>
              <a:t>Le score priorise l'accompagnement ; il ne décide jamais du parcours d'un étudiant.</a:t>
            </a:r>
          </a:p>
        </p:txBody>
      </p:sp>
    </p:spTree>
    <p:extLst>
      <p:ext uri="{BB962C8B-B14F-4D97-AF65-F5344CB8AC3E}">
        <p14:creationId xmlns:p14="http://schemas.microsoft.com/office/powerpoint/2010/main" val="121872592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D13DA-5461-453B-B426-F31AEE47B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20. Conclusion — du modèle au Run, C1→C9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EAF760-C659-4364-8793-21891BDC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ED1F7F-F033-479D-B6AB-3E80B816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343F9-98D8-412B-9C24-F9BC838B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66875"/>
            <a:ext cx="10096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Rigueur anti-fuite : trois pièges neutralisés et garde-fou codé.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Modèle explicable : AUC 0,95, rappel 95,9 %, seuil métier assumé.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Architecture responsable : RGPD, médaillon, décision humaine.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725">
                <a:solidFill>
                  <a:srgbClr val="1B252C"/>
                </a:solidFill>
              </a:defRPr>
            </a:pPr>
            <a:r>
              <a:rPr sz="1725">
                <a:solidFill>
                  <a:srgbClr val="1B252C"/>
                </a:solidFill>
              </a:rPr>
              <a:t>• </a:t>
            </a:r>
            <a:r>
              <a:rPr sz="1725">
                <a:solidFill>
                  <a:srgbClr val="1B252C"/>
                </a:solidFill>
              </a:rPr>
              <a:t>Prototype Run vérifiable</a:t>
            </a:r>
            <a:r>
              <a:rPr sz="1725">
                <a:solidFill>
                  <a:srgbClr val="1B252C"/>
                </a:solidFill>
              </a:rPr>
              <a:t> : HTTPS, métriques, alertes, heartbeat, promotion et rollback.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F2FE7-2AC6-495F-A0A2-7078D945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577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3B57"/>
                </a:solidFill>
              </a:defRPr>
            </a:pPr>
            <a:r>
              <a:rPr sz="2100" b="1">
                <a:solidFill>
                  <a:srgbClr val="173B57"/>
                </a:solidFill>
              </a:rPr>
              <a:t>Une aide concrète pour accompagner à temps les étudiants à risque.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4D75A9-DA66-4759-B2CC-DB1AD74B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95950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2E6F9E"/>
                </a:solidFill>
              </a:defRPr>
            </a:pPr>
            <a:r>
              <a:rPr sz="1800">
                <a:solidFill>
                  <a:srgbClr val="2E6F9E"/>
                </a:solidFill>
              </a:rPr>
              <a:t>Merci — vos questions ?</a:t>
            </a:r>
          </a:p>
        </p:txBody>
      </p:sp>
    </p:spTree>
    <p:extLst>
      <p:ext uri="{BB962C8B-B14F-4D97-AF65-F5344CB8AC3E}">
        <p14:creationId xmlns:p14="http://schemas.microsoft.com/office/powerpoint/2010/main" val="44771092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E78200-8E93-43F2-9CE9-454429C9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B57"/>
                </a:solidFill>
              </a:defRPr>
            </a:pPr>
            <a:r>
              <a:rPr sz="2700" b="1">
                <a:solidFill>
                  <a:srgbClr val="173B57"/>
                </a:solidFill>
              </a:rPr>
              <a:t>Backup — questions probables du jury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0BE2F1-5B0C-407D-8AC6-AB571CAC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ED50F1-8926-4612-8E4F-79B7F90F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85929B"/>
                </a:solidFill>
              </a:defRPr>
            </a:pPr>
            <a:r>
              <a:rPr sz="900">
                <a:solidFill>
                  <a:srgbClr val="85929B"/>
                </a:solidFill>
              </a:rPr>
              <a:t>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B514EB-CDE2-4D36-AECA-A59B155F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5191125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Fuites ? → périmètre codé + assert_no_leakage.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AUC 0,95 ? → données synthétiques, test hold-out, à revalider.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Pourquoi LogReg ? → même AUC, plus explicable et sobre.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Seuil ? → coût métier choisi sur validation.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Équité / RGPD ? → audit, HMAC, minimisation, humain.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A35509-BD62-4B78-B20B-68556F11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81125"/>
            <a:ext cx="190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18DF48-B4FB-43C2-8476-D7A8DF40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476375"/>
            <a:ext cx="5095875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Pourquoi pas mensuel ? → labels disponibles par cohorte.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Modèle dégradé ? → gate, approbation, rollback MLflow.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Pourquoi pas Kubernetes ? → faible volume, batch rejouable.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Job silencieux ? → heartbeat externe attendu.</a:t>
            </a:r>
          </a:p>
          <a:p xmlns:a="http://schemas.openxmlformats.org/drawingml/2006/main">
            <a:pPr>
              <a:lnSpc>
                <a:spcPct val="122000"/>
              </a:lnSpc>
              <a:buNone/>
              <a:defRPr sz="1350">
                <a:solidFill>
                  <a:srgbClr val="1B252C"/>
                </a:solidFill>
              </a:defRPr>
            </a:pPr>
            <a:r>
              <a:rPr sz="1350">
                <a:solidFill>
                  <a:srgbClr val="1B252C"/>
                </a:solidFill>
              </a:rPr>
              <a:t>• ROI ? → TCO + pilote causal, pas l'AUC seule.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431C7D-E9A5-49E3-8BE8-7EE515CB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71500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i="1">
                <a:solidFill>
                  <a:srgbClr val="5D6B76"/>
                </a:solidFill>
              </a:defRPr>
            </a:pPr>
            <a:r>
              <a:rPr sz="1275" i="1">
                <a:solidFill>
                  <a:srgbClr val="5D6B76"/>
                </a:solidFill>
              </a:rPr>
              <a:t>Slide de secours — ne pas présenter dans le fil principal</a:t>
            </a:r>
          </a:p>
        </p:txBody>
      </p:sp>
    </p:spTree>
    <p:extLst>
      <p:ext uri="{BB962C8B-B14F-4D97-AF65-F5344CB8AC3E}">
        <p14:creationId xmlns:p14="http://schemas.microsoft.com/office/powerpoint/2010/main" val="1636366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2026-07-21T14:36:24.0660000Z</dcterms:created>
  <dcterms:modified xsi:type="dcterms:W3CDTF">2026-07-21T14:36:24.0660000Z</dcterms:modified>
</coreProperties>
</file>
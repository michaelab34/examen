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72" autoAdjust="0"/>
    <p:restoredTop sz="83293" autoAdjust="0"/>
  </p:normalViewPr>
  <p:slideViewPr>
    <p:cSldViewPr snapToGrid="0">
      <p:cViewPr varScale="1">
        <p:scale>
          <a:sx n="92" d="100"/>
          <a:sy n="92" d="100"/>
        </p:scale>
        <p:origin x="134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[0:30] Se présenter, annoncer le sujet en une phrase :</a:t>
            </a:r>
          </a:p>
          <a:p>
            <a:r>
              <a:rPr lang="fr-FR" dirty="0"/>
              <a:t>« Je vous présente une solution d'IA qui détecte, dès le milieu du premier semestre, les étudiants de L1 en risque de décrochage, pour prioriser</a:t>
            </a:r>
          </a:p>
          <a:p>
            <a:r>
              <a:rPr lang="fr-FR" dirty="0"/>
              <a:t>l'accompagnement — de façon explicable et conforme au RGPD. »</a:t>
            </a:r>
          </a:p>
          <a:p>
            <a:r>
              <a:rPr lang="fr-FR" dirty="0"/>
              <a:t>Annoncer la durée et qu'on prendra les questions à la fin.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[0:30] Donner la carte. Insister : « le fil rouge de ma démarche, c'est la RIGUEUR </a:t>
            </a:r>
            <a:r>
              <a:rPr lang="fr-FR" dirty="0" err="1"/>
              <a:t>anti-fuite</a:t>
            </a:r>
            <a:r>
              <a:rPr lang="fr-FR" dirty="0"/>
              <a:t> et l'EXPLICABILITÉ, parce que ce sont des données étudiantes sensibles. » </a:t>
            </a:r>
          </a:p>
          <a:p>
            <a:r>
              <a:rPr lang="fr-FR" dirty="0"/>
              <a:t>Ne pas lire les 8 points un à un.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[2:00] Raconter le problème comme une histoire, pas comme une fiche.</a:t>
            </a:r>
          </a:p>
          <a:p>
            <a:r>
              <a:rPr lang="fr-FR" dirty="0"/>
              <a:t>Le point clé à faire passer : la contrainte « MI-S1 » conditionne tout (elle interdit certaines variables — j'y reviens au slide des pièges).</a:t>
            </a:r>
          </a:p>
          <a:p>
            <a:r>
              <a:rPr lang="fr-FR" dirty="0"/>
              <a:t>« Le modèle n'est qu'une aide à la décision : l'humain garde la main. »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[1:30] Justifier pourquoi c'est de la CLASSIFICATION (décision oui/non d'accompagner) et pas juste de la régression. La régression est un COMPLÉMENT pour calibrer l'intensité. Question jury probable : « pourquoi pas prédire seulement la note ? » → parce que la décision métier est binaire.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[3:00] SLIDE LA PLUS IMPORTANTE. Prendre le temps.</a:t>
            </a:r>
          </a:p>
          <a:p>
            <a:r>
              <a:rPr lang="fr-FR" dirty="0"/>
              <a:t>- Fuite de données : moyenne finale est un résultat de FIN de semestre, corrélé au décrochage → l'utiliser = tricher.</a:t>
            </a:r>
          </a:p>
          <a:p>
            <a:r>
              <a:rPr lang="fr-FR" dirty="0"/>
              <a:t>- Fuite temporelle : les résultats consolidés de fin de S1 ne sont PAS disponibles à mi-S1 → performance flatteuse mais modèle inutilisable.</a:t>
            </a:r>
          </a:p>
          <a:p>
            <a:r>
              <a:rPr lang="fr-FR" dirty="0"/>
              <a:t>- Leurres : je ne me contente pas de les retirer, je PROUVE (EDA) qu’ils n'ont pas de signal.</a:t>
            </a:r>
          </a:p>
          <a:p>
            <a:r>
              <a:rPr lang="fr-FR" dirty="0"/>
              <a:t>Conclure : « et pour ne jamais me tromper, j'ai un garde-fou qui plante si une colonne interdite entre dans le modèle. »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[2:00] Montrer une vraie conscience éthique — c'est très regardé (C2 a un questionnaire séparé). Question piège classique : « en retirant le sexe, votre modèle est-il non-discriminant ? » → NON, des proxys corrélés peuvent réintroduire un biais → d'où l'audit d'équité que je montre plus loin.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[2:00] Insister sur 2 idées défendables :</a:t>
            </a:r>
          </a:p>
          <a:p>
            <a:r>
              <a:rPr lang="fr-FR" dirty="0"/>
              <a:t>1. Le nettoyage est dans un MODULE → rejoué à l'identique en production.</a:t>
            </a:r>
          </a:p>
          <a:p>
            <a:r>
              <a:rPr lang="fr-FR" dirty="0"/>
              <a:t>2. On impute DANS la pipeline (pas avant le split) sinon fuite du test.</a:t>
            </a:r>
          </a:p>
          <a:p>
            <a:r>
              <a:rPr lang="fr-FR" dirty="0"/>
              <a:t>Montrer 1-2 exemples concrets de valeurs sales (« 14.4 km ») — ça marque.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[2:00] Montrer le graphe des densités par classe (présence, LMS, rendus...).</a:t>
            </a:r>
          </a:p>
          <a:p>
            <a:r>
              <a:rPr lang="fr-FR" dirty="0"/>
              <a:t>« On voit visuellement que les signaux d'engagement séparent bien les deux groupes. » Puis mentionner le graphe des leurres (eda_leurres.png) : « et voici la preuve que les leurres n'apportent rien. » Tu peux mettre eda_leurres.png en</a:t>
            </a:r>
          </a:p>
          <a:p>
            <a:r>
              <a:rPr lang="fr-FR" dirty="0"/>
              <a:t>2e image si la place le permet.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[2:00] Justifier AUC (insensible au seuil et au déséquilibre, contrairement à l'</a:t>
            </a:r>
            <a:r>
              <a:rPr lang="fr-FR" dirty="0" err="1"/>
              <a:t>accuracy</a:t>
            </a:r>
            <a:r>
              <a:rPr lang="fr-FR" dirty="0"/>
              <a:t>). Montrer les courbes ROC superposées. Le message : « à performance égale, je choisis le modèle le plus EXPLICABLE et le plus SOBRE — c'est ce qu'exige le contexte. » Question probable : « pourquoi pas </a:t>
            </a:r>
            <a:r>
              <a:rPr lang="fr-FR" dirty="0" err="1"/>
              <a:t>XGBoost</a:t>
            </a:r>
            <a:r>
              <a:rPr lang="fr-FR" dirty="0"/>
              <a:t> ? » → pas de gain d'AUC ici, et moins explicable.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[1:30] Rassurer sur la robustesse : le fait que l'AUC en validation croisée égale l'AUC sur le test </a:t>
            </a:r>
            <a:r>
              <a:rPr lang="fr-FR" dirty="0" err="1"/>
              <a:t>hold</a:t>
            </a:r>
            <a:r>
              <a:rPr lang="fr-FR" dirty="0"/>
              <a:t>-out prouve qu'on ne surapprend pas. Expliquer pourquoi pondération plutôt que SMOTE : préserve la calibration des probabilités.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[2:00] C'est un slide qui impressionne : montrer qu'on ne prend pas 0,5 par défaut mais qu'on OPTIMISE un coût métier. Assumer que le ratio 5:1 est une hypothèse à valider avec la direction. Lien direct avec l'objectif : ne pas laisser des étudiants décrocher.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[1:30] Lire la matrice de confusion : « au seuil retenu, je détecte 96 % des futurs décrocheurs. » Assumer la précision plus basse (64 %) : c'est un choix — mieux vaut quelques accompagnements en trop qu'un décrocheur raté. Coût d'un FN &gt;&gt; coût d'un FP.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[2:00] Deux messages : (1) le modèle n'est pas une boîte noire — SHAP et l'importance des variables montrent des facteurs sur lesquels on peut AGIR (relance, tutorat). (2) J'ai vérifié l'équité entre sous-groupes sensibles : pas d'écart marqué. Tu peux aussi montrer importance_permutation.png.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[1:00] Court. Montrer que la régression est utile pour NUANCER (soutien léger vs renforcé), sans prétendre prédire une note exacte. Rappeler qu'on ne s'en sert JAMAIS pour prédire abandon.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[1:30] Montrer qu'on va « du notebook au service » : un modèle qu'on peut recharger et appeler sur des données brutes, avec un contrat d'entrée/sortie clair. Le piège évité : les classes custom doivent être importables (pas dans __main__) sinon le modèle ne se recharge pas.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[1:30] Dessiner la chaîne à l'oral (ou montrer le schéma ASCII de ARCHITECTURE_PROJET.md). Point clé : la DÉCISION HUMAINE est explicitement dans l'architecture (à la restitution). Citer les acteurs : réussite étudiante, DPO, DSI, référents.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[1:30] Montrer qu'on pense au CYCLE DE VIE, pas juste au modèle figé. Insister :</a:t>
            </a:r>
          </a:p>
          <a:p>
            <a:r>
              <a:rPr lang="fr-FR" dirty="0"/>
              <a:t>les vraies étiquettes d'abandon arrivent en fin d'année → </a:t>
            </a:r>
            <a:r>
              <a:rPr lang="fr-FR" dirty="0" err="1"/>
              <a:t>ré-entraînement</a:t>
            </a:r>
            <a:r>
              <a:rPr lang="fr-FR" dirty="0"/>
              <a:t> annuel logique. Le A/B test est ce qui permettrait de PROUVER que ça marche vraiment.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[1:30] Montrer de la lucidité — le jury valorise un candidat qui connaît les limites de son travail. NE PAS survendre. « Ce que j'ai construit est une démarche solide et reproductible ; sa validité en production reste à confirmer sur données réelles. »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[1:00] Résumer en 30 s les 5 messages. Terminer par la valeur métier : « une aide concrète pour accompagner à temps les étudiants à risque. » Enchaîner sur les questions avec assurance.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AF5B1B5-4C54-46F3-9D3E-033D43455739}"/>
              </a:ext>
            </a:extLst>
          </p:cNvPr>
          <p:cNvSpPr>
            <a:spLocks noGrp="1"/>
          </p:cNvSpPr>
          <p:nvPr/>
        </p:nvSpPr>
        <p:spPr>
          <a:xfrm>
            <a:off x="400050" y="800100"/>
            <a:ext cx="7410450" cy="1771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350" b="1">
                <a:solidFill>
                  <a:srgbClr val="000000"/>
                </a:solidFill>
              </a:defRPr>
            </a:pPr>
            <a:r>
              <a:rPr lang="fr-FR" sz="4350" b="1" noProof="0" dirty="0">
                <a:solidFill>
                  <a:srgbClr val="000000"/>
                </a:solidFill>
              </a:rPr>
              <a:t>Détection précoce du décrochage étudiant en L1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FF01F0-4CC4-47C0-8B39-DDE4BE0E4651}"/>
              </a:ext>
            </a:extLst>
          </p:cNvPr>
          <p:cNvSpPr>
            <a:spLocks noGrp="1"/>
          </p:cNvSpPr>
          <p:nvPr/>
        </p:nvSpPr>
        <p:spPr>
          <a:xfrm>
            <a:off x="400050" y="2933700"/>
            <a:ext cx="6572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0">
                <a:solidFill>
                  <a:srgbClr val="202124"/>
                </a:solidFill>
              </a:defRPr>
            </a:pPr>
            <a:r>
              <a:rPr lang="fr-FR" sz="2100" b="0" noProof="0" dirty="0">
                <a:solidFill>
                  <a:srgbClr val="202124"/>
                </a:solidFill>
              </a:rPr>
              <a:t>Concevoir et implémenter une solution d'IA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A97C89-11AC-4C50-A944-523C2A1F2795}"/>
              </a:ext>
            </a:extLst>
          </p:cNvPr>
          <p:cNvSpPr>
            <a:spLocks noGrp="1"/>
          </p:cNvSpPr>
          <p:nvPr/>
        </p:nvSpPr>
        <p:spPr>
          <a:xfrm>
            <a:off x="400050" y="3467100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555555"/>
                </a:solidFill>
              </a:defRPr>
            </a:pPr>
            <a:r>
              <a:rPr lang="fr-FR" sz="1650" b="0" noProof="0" dirty="0">
                <a:solidFill>
                  <a:srgbClr val="555555"/>
                </a:solidFill>
              </a:rPr>
              <a:t>Soutenance de certification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37E8E-F860-47EB-9420-92862DDC3818}"/>
              </a:ext>
            </a:extLst>
          </p:cNvPr>
          <p:cNvSpPr>
            <a:spLocks noGrp="1"/>
          </p:cNvSpPr>
          <p:nvPr/>
        </p:nvSpPr>
        <p:spPr>
          <a:xfrm>
            <a:off x="7810500" y="742950"/>
            <a:ext cx="3581400" cy="43815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6F2523-7056-4257-942A-BCAD033EDCA1}"/>
              </a:ext>
            </a:extLst>
          </p:cNvPr>
          <p:cNvSpPr>
            <a:spLocks noGrp="1"/>
          </p:cNvSpPr>
          <p:nvPr/>
        </p:nvSpPr>
        <p:spPr>
          <a:xfrm>
            <a:off x="8172450" y="1181100"/>
            <a:ext cx="2857500" cy="2143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450" b="1">
                <a:solidFill>
                  <a:srgbClr val="000000"/>
                </a:solidFill>
              </a:defRPr>
            </a:pPr>
            <a:r>
              <a:rPr lang="fr-FR" sz="3450" b="1" noProof="0" dirty="0">
                <a:solidFill>
                  <a:srgbClr val="000000"/>
                </a:solidFill>
              </a:rPr>
              <a:t>IA explicable</a:t>
            </a:r>
          </a:p>
          <a:p>
            <a:pPr algn="l">
              <a:defRPr sz="3450" b="1">
                <a:solidFill>
                  <a:srgbClr val="000000"/>
                </a:solidFill>
              </a:defRPr>
            </a:pPr>
            <a:r>
              <a:rPr lang="fr-FR" sz="3450" b="1" noProof="0" dirty="0" err="1">
                <a:solidFill>
                  <a:srgbClr val="000000"/>
                </a:solidFill>
              </a:rPr>
              <a:t>anti-fuite</a:t>
            </a:r>
            <a:endParaRPr lang="fr-FR" sz="3450" b="1" noProof="0" dirty="0">
              <a:solidFill>
                <a:srgbClr val="000000"/>
              </a:solidFill>
            </a:endParaRPr>
          </a:p>
          <a:p>
            <a:pPr algn="l">
              <a:defRPr sz="3450" b="1">
                <a:solidFill>
                  <a:srgbClr val="000000"/>
                </a:solidFill>
              </a:defRPr>
            </a:pPr>
            <a:r>
              <a:rPr lang="fr-FR" sz="3450" b="1" noProof="0" dirty="0">
                <a:solidFill>
                  <a:srgbClr val="000000"/>
                </a:solidFill>
              </a:rPr>
              <a:t>RGPD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BF0C62-95BD-4F8C-8F77-2D9799ECBF9A}"/>
              </a:ext>
            </a:extLst>
          </p:cNvPr>
          <p:cNvSpPr>
            <a:spLocks noGrp="1"/>
          </p:cNvSpPr>
          <p:nvPr/>
        </p:nvSpPr>
        <p:spPr>
          <a:xfrm>
            <a:off x="8172450" y="3962400"/>
            <a:ext cx="2857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555555"/>
                </a:solidFill>
              </a:defRPr>
            </a:pPr>
            <a:r>
              <a:rPr lang="fr-FR" sz="1500" b="0" noProof="0" dirty="0">
                <a:solidFill>
                  <a:srgbClr val="555555"/>
                </a:solidFill>
              </a:rPr>
              <a:t>Python 3.13 · </a:t>
            </a:r>
            <a:r>
              <a:rPr lang="fr-FR" sz="1500" b="0" noProof="0" dirty="0" err="1">
                <a:solidFill>
                  <a:srgbClr val="555555"/>
                </a:solidFill>
              </a:rPr>
              <a:t>scikit-learn</a:t>
            </a:r>
            <a:endParaRPr lang="fr-FR" sz="1500" b="0" noProof="0" dirty="0">
              <a:solidFill>
                <a:srgbClr val="555555"/>
              </a:solidFill>
            </a:endParaRPr>
          </a:p>
          <a:p>
            <a:pPr algn="l">
              <a:defRPr sz="1500" b="0">
                <a:solidFill>
                  <a:srgbClr val="555555"/>
                </a:solidFill>
              </a:defRPr>
            </a:pPr>
            <a:r>
              <a:rPr lang="fr-FR" sz="1500" b="0" noProof="0" dirty="0">
                <a:solidFill>
                  <a:srgbClr val="555555"/>
                </a:solidFill>
              </a:rPr>
              <a:t>Notebook unique C1→C9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1DD221-4A54-4D23-8E15-B9A4896FF2E7}"/>
              </a:ext>
            </a:extLst>
          </p:cNvPr>
          <p:cNvSpPr>
            <a:spLocks noGrp="1"/>
          </p:cNvSpPr>
          <p:nvPr/>
        </p:nvSpPr>
        <p:spPr>
          <a:xfrm>
            <a:off x="400050" y="5219700"/>
            <a:ext cx="1099185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02647DA-358A-439C-8600-CB7D4DF5909F}"/>
              </a:ext>
            </a:extLst>
          </p:cNvPr>
          <p:cNvSpPr>
            <a:spLocks noGrp="1"/>
          </p:cNvSpPr>
          <p:nvPr/>
        </p:nvSpPr>
        <p:spPr>
          <a:xfrm>
            <a:off x="400050" y="5543550"/>
            <a:ext cx="495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555555"/>
                </a:solidFill>
              </a:defRPr>
            </a:pPr>
            <a:r>
              <a:rPr lang="fr-FR" sz="1500" b="0" noProof="0" dirty="0">
                <a:solidFill>
                  <a:srgbClr val="555555"/>
                </a:solidFill>
              </a:rPr>
              <a:t>Nom Prénom · jj/mm/2026 · v1.0</a:t>
            </a:r>
          </a:p>
        </p:txBody>
      </p:sp>
    </p:spTree>
    <p:extLst>
      <p:ext uri="{BB962C8B-B14F-4D97-AF65-F5344CB8AC3E}">
        <p14:creationId xmlns:p14="http://schemas.microsoft.com/office/powerpoint/2010/main" val="12353752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E8DF8C5D-1CF8-4B2F-9A5A-D673726C3FEF}"/>
              </a:ext>
            </a:extLst>
          </p:cNvPr>
          <p:cNvSpPr>
            <a:spLocks noGrp="1"/>
          </p:cNvSpPr>
          <p:nvPr/>
        </p:nvSpPr>
        <p:spPr>
          <a:xfrm>
            <a:off x="400050" y="457200"/>
            <a:ext cx="6667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900" b="1">
                <a:solidFill>
                  <a:srgbClr val="000000"/>
                </a:solidFill>
              </a:defRPr>
            </a:pPr>
            <a:r>
              <a:rPr lang="fr-FR" sz="3900" b="1" noProof="0" dirty="0">
                <a:solidFill>
                  <a:srgbClr val="000000"/>
                </a:solidFill>
              </a:rPr>
              <a:t>Fil conducteur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E866D9B-4ADA-4F02-8656-4B79FED0EF9A}"/>
              </a:ext>
            </a:extLst>
          </p:cNvPr>
          <p:cNvSpPr>
            <a:spLocks noGrp="1"/>
          </p:cNvSpPr>
          <p:nvPr/>
        </p:nvSpPr>
        <p:spPr>
          <a:xfrm>
            <a:off x="819150" y="1562100"/>
            <a:ext cx="5524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6B35"/>
                </a:solidFill>
              </a:defRPr>
            </a:pPr>
            <a:r>
              <a:rPr lang="fr-FR" sz="1500" b="1" noProof="0" dirty="0">
                <a:solidFill>
                  <a:srgbClr val="FF6B35"/>
                </a:solidFill>
              </a:rPr>
              <a:t>01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7C163E8-AB98-4023-A7C1-FA24ADE1178B}"/>
              </a:ext>
            </a:extLst>
          </p:cNvPr>
          <p:cNvSpPr>
            <a:spLocks noGrp="1"/>
          </p:cNvSpPr>
          <p:nvPr/>
        </p:nvSpPr>
        <p:spPr>
          <a:xfrm>
            <a:off x="1524000" y="1524000"/>
            <a:ext cx="3905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lang="fr-FR" sz="2100" b="1" noProof="0" dirty="0">
                <a:solidFill>
                  <a:srgbClr val="000000"/>
                </a:solidFill>
              </a:rPr>
              <a:t>Problème &amp; cadrage métier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2DB85C-7901-415F-B63D-510ADADA1575}"/>
              </a:ext>
            </a:extLst>
          </p:cNvPr>
          <p:cNvSpPr>
            <a:spLocks noGrp="1"/>
          </p:cNvSpPr>
          <p:nvPr/>
        </p:nvSpPr>
        <p:spPr>
          <a:xfrm>
            <a:off x="819150" y="2114550"/>
            <a:ext cx="443865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741849-0FF9-4F4E-941C-BE4AC1432FB5}"/>
              </a:ext>
            </a:extLst>
          </p:cNvPr>
          <p:cNvSpPr>
            <a:spLocks noGrp="1"/>
          </p:cNvSpPr>
          <p:nvPr/>
        </p:nvSpPr>
        <p:spPr>
          <a:xfrm>
            <a:off x="6191250" y="1562100"/>
            <a:ext cx="5524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6B35"/>
                </a:solidFill>
              </a:defRPr>
            </a:pPr>
            <a:r>
              <a:rPr lang="fr-FR" sz="1500" b="1" noProof="0" dirty="0">
                <a:solidFill>
                  <a:srgbClr val="FF6B35"/>
                </a:solidFill>
              </a:rPr>
              <a:t>02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0B40CA-172A-4A67-A1CF-3FD2671AB5AB}"/>
              </a:ext>
            </a:extLst>
          </p:cNvPr>
          <p:cNvSpPr>
            <a:spLocks noGrp="1"/>
          </p:cNvSpPr>
          <p:nvPr/>
        </p:nvSpPr>
        <p:spPr>
          <a:xfrm>
            <a:off x="6896100" y="1524000"/>
            <a:ext cx="3905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lang="fr-FR" sz="2100" b="1" noProof="0" dirty="0">
                <a:solidFill>
                  <a:srgbClr val="000000"/>
                </a:solidFill>
              </a:rPr>
              <a:t>Données et pièges à éviter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A537B2-6CB7-42EC-B37E-B0FB0FF12225}"/>
              </a:ext>
            </a:extLst>
          </p:cNvPr>
          <p:cNvSpPr>
            <a:spLocks noGrp="1"/>
          </p:cNvSpPr>
          <p:nvPr/>
        </p:nvSpPr>
        <p:spPr>
          <a:xfrm>
            <a:off x="6191250" y="2114550"/>
            <a:ext cx="443865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F4B674-0AB8-42E7-B839-DF719070711E}"/>
              </a:ext>
            </a:extLst>
          </p:cNvPr>
          <p:cNvSpPr>
            <a:spLocks noGrp="1"/>
          </p:cNvSpPr>
          <p:nvPr/>
        </p:nvSpPr>
        <p:spPr>
          <a:xfrm>
            <a:off x="819150" y="2533650"/>
            <a:ext cx="5524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6B35"/>
                </a:solidFill>
              </a:defRPr>
            </a:pPr>
            <a:r>
              <a:rPr lang="fr-FR" sz="1500" b="1" noProof="0" dirty="0">
                <a:solidFill>
                  <a:srgbClr val="FF6B35"/>
                </a:solidFill>
              </a:rPr>
              <a:t>03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0E20895-522D-45C6-A4E0-168D9A107E63}"/>
              </a:ext>
            </a:extLst>
          </p:cNvPr>
          <p:cNvSpPr>
            <a:spLocks noGrp="1"/>
          </p:cNvSpPr>
          <p:nvPr/>
        </p:nvSpPr>
        <p:spPr>
          <a:xfrm>
            <a:off x="1524000" y="2495550"/>
            <a:ext cx="3905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lang="fr-FR" sz="2100" b="1" noProof="0" dirty="0">
                <a:solidFill>
                  <a:srgbClr val="000000"/>
                </a:solidFill>
              </a:rPr>
              <a:t>Éthique &amp; RGPD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D791BD-69F7-4B72-BD68-A19C37E56580}"/>
              </a:ext>
            </a:extLst>
          </p:cNvPr>
          <p:cNvSpPr>
            <a:spLocks noGrp="1"/>
          </p:cNvSpPr>
          <p:nvPr/>
        </p:nvSpPr>
        <p:spPr>
          <a:xfrm>
            <a:off x="819150" y="3086100"/>
            <a:ext cx="443865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53774C-95BA-43C8-B246-858823B7FBA4}"/>
              </a:ext>
            </a:extLst>
          </p:cNvPr>
          <p:cNvSpPr>
            <a:spLocks noGrp="1"/>
          </p:cNvSpPr>
          <p:nvPr/>
        </p:nvSpPr>
        <p:spPr>
          <a:xfrm>
            <a:off x="6191250" y="2533650"/>
            <a:ext cx="5524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6B35"/>
                </a:solidFill>
              </a:defRPr>
            </a:pPr>
            <a:r>
              <a:rPr lang="fr-FR" sz="1500" b="1" noProof="0" dirty="0">
                <a:solidFill>
                  <a:srgbClr val="FF6B35"/>
                </a:solidFill>
              </a:rPr>
              <a:t>04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40BE716-7300-465E-821F-D1831E62AE10}"/>
              </a:ext>
            </a:extLst>
          </p:cNvPr>
          <p:cNvSpPr>
            <a:spLocks noGrp="1"/>
          </p:cNvSpPr>
          <p:nvPr/>
        </p:nvSpPr>
        <p:spPr>
          <a:xfrm>
            <a:off x="6896100" y="2495550"/>
            <a:ext cx="3905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lang="fr-FR" sz="2100" b="1" noProof="0" dirty="0">
                <a:solidFill>
                  <a:srgbClr val="000000"/>
                </a:solidFill>
              </a:rPr>
              <a:t>Préparation et </a:t>
            </a:r>
            <a:r>
              <a:rPr lang="fr-FR" sz="2100" b="1" noProof="0" dirty="0" err="1">
                <a:solidFill>
                  <a:srgbClr val="000000"/>
                </a:solidFill>
              </a:rPr>
              <a:t>anti-fuite</a:t>
            </a:r>
            <a:endParaRPr lang="fr-FR" sz="2100" b="1" noProof="0" dirty="0">
              <a:solidFill>
                <a:srgbClr val="000000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A3B315B-3A9B-42D9-991B-14B847A6B2DD}"/>
              </a:ext>
            </a:extLst>
          </p:cNvPr>
          <p:cNvSpPr>
            <a:spLocks noGrp="1"/>
          </p:cNvSpPr>
          <p:nvPr/>
        </p:nvSpPr>
        <p:spPr>
          <a:xfrm>
            <a:off x="6191250" y="3086100"/>
            <a:ext cx="443865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4933A3-F11C-4CB4-980C-97A9417159F3}"/>
              </a:ext>
            </a:extLst>
          </p:cNvPr>
          <p:cNvSpPr>
            <a:spLocks noGrp="1"/>
          </p:cNvSpPr>
          <p:nvPr/>
        </p:nvSpPr>
        <p:spPr>
          <a:xfrm>
            <a:off x="819150" y="3505200"/>
            <a:ext cx="5524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6B35"/>
                </a:solidFill>
              </a:defRPr>
            </a:pPr>
            <a:r>
              <a:rPr lang="fr-FR" sz="1500" b="1" noProof="0" dirty="0">
                <a:solidFill>
                  <a:srgbClr val="FF6B35"/>
                </a:solidFill>
              </a:rPr>
              <a:t>05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1FEFEF-8B59-42D1-82A5-ED1A60B9CDA7}"/>
              </a:ext>
            </a:extLst>
          </p:cNvPr>
          <p:cNvSpPr>
            <a:spLocks noGrp="1"/>
          </p:cNvSpPr>
          <p:nvPr/>
        </p:nvSpPr>
        <p:spPr>
          <a:xfrm>
            <a:off x="1524000" y="3467100"/>
            <a:ext cx="3905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lang="fr-FR" sz="2100" b="1" noProof="0" dirty="0">
                <a:solidFill>
                  <a:srgbClr val="000000"/>
                </a:solidFill>
              </a:rPr>
              <a:t>Modèle, entraînement, seuil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4673B8C-0AB7-47C7-B8FD-0FC342CC4F96}"/>
              </a:ext>
            </a:extLst>
          </p:cNvPr>
          <p:cNvSpPr>
            <a:spLocks noGrp="1"/>
          </p:cNvSpPr>
          <p:nvPr/>
        </p:nvSpPr>
        <p:spPr>
          <a:xfrm>
            <a:off x="819150" y="4057650"/>
            <a:ext cx="443865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B1D64D5-080E-4261-A857-AB08E030B28D}"/>
              </a:ext>
            </a:extLst>
          </p:cNvPr>
          <p:cNvSpPr>
            <a:spLocks noGrp="1"/>
          </p:cNvSpPr>
          <p:nvPr/>
        </p:nvSpPr>
        <p:spPr>
          <a:xfrm>
            <a:off x="6191250" y="3505200"/>
            <a:ext cx="5524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6B35"/>
                </a:solidFill>
              </a:defRPr>
            </a:pPr>
            <a:r>
              <a:rPr lang="fr-FR" sz="1500" b="1" noProof="0" dirty="0">
                <a:solidFill>
                  <a:srgbClr val="FF6B35"/>
                </a:solidFill>
              </a:rPr>
              <a:t>06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312942-5402-44A4-AB5F-30AA7DC648EB}"/>
              </a:ext>
            </a:extLst>
          </p:cNvPr>
          <p:cNvSpPr>
            <a:spLocks noGrp="1"/>
          </p:cNvSpPr>
          <p:nvPr/>
        </p:nvSpPr>
        <p:spPr>
          <a:xfrm>
            <a:off x="6896100" y="3467100"/>
            <a:ext cx="3905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lang="fr-FR" sz="2100" b="1" noProof="0" dirty="0">
                <a:solidFill>
                  <a:srgbClr val="000000"/>
                </a:solidFill>
              </a:rPr>
              <a:t>Résultats &amp; explicabilité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62D9E99-AEBE-4BF3-87D8-529B9C70C5E3}"/>
              </a:ext>
            </a:extLst>
          </p:cNvPr>
          <p:cNvSpPr>
            <a:spLocks noGrp="1"/>
          </p:cNvSpPr>
          <p:nvPr/>
        </p:nvSpPr>
        <p:spPr>
          <a:xfrm>
            <a:off x="6191250" y="4057650"/>
            <a:ext cx="443865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0FE9CC5-13DA-451A-AFA9-A99D44D7BA51}"/>
              </a:ext>
            </a:extLst>
          </p:cNvPr>
          <p:cNvSpPr>
            <a:spLocks noGrp="1"/>
          </p:cNvSpPr>
          <p:nvPr/>
        </p:nvSpPr>
        <p:spPr>
          <a:xfrm>
            <a:off x="819150" y="4476750"/>
            <a:ext cx="5524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6B35"/>
                </a:solidFill>
              </a:defRPr>
            </a:pPr>
            <a:r>
              <a:rPr lang="fr-FR" sz="1500" b="1" noProof="0" dirty="0">
                <a:solidFill>
                  <a:srgbClr val="FF6B35"/>
                </a:solidFill>
              </a:rPr>
              <a:t>07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69D335F-DE9C-435A-9B0C-C8CC4ACC0874}"/>
              </a:ext>
            </a:extLst>
          </p:cNvPr>
          <p:cNvSpPr>
            <a:spLocks noGrp="1"/>
          </p:cNvSpPr>
          <p:nvPr/>
        </p:nvSpPr>
        <p:spPr>
          <a:xfrm>
            <a:off x="1524000" y="4438650"/>
            <a:ext cx="3905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lang="fr-FR" sz="2100" b="1" noProof="0" dirty="0">
                <a:solidFill>
                  <a:srgbClr val="000000"/>
                </a:solidFill>
              </a:rPr>
              <a:t>Industrialisation &amp; </a:t>
            </a:r>
            <a:r>
              <a:rPr lang="fr-FR" sz="2100" b="1" noProof="0" dirty="0" err="1">
                <a:solidFill>
                  <a:srgbClr val="000000"/>
                </a:solidFill>
              </a:rPr>
              <a:t>MLOps</a:t>
            </a:r>
            <a:endParaRPr lang="fr-FR" sz="2100" b="1" noProof="0" dirty="0">
              <a:solidFill>
                <a:srgbClr val="00000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EEB3EB-64C4-4585-B9B2-F6C3D09881D9}"/>
              </a:ext>
            </a:extLst>
          </p:cNvPr>
          <p:cNvSpPr>
            <a:spLocks noGrp="1"/>
          </p:cNvSpPr>
          <p:nvPr/>
        </p:nvSpPr>
        <p:spPr>
          <a:xfrm>
            <a:off x="819150" y="5029200"/>
            <a:ext cx="443865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2D87B84-241E-4F77-9482-B44BE029289A}"/>
              </a:ext>
            </a:extLst>
          </p:cNvPr>
          <p:cNvSpPr>
            <a:spLocks noGrp="1"/>
          </p:cNvSpPr>
          <p:nvPr/>
        </p:nvSpPr>
        <p:spPr>
          <a:xfrm>
            <a:off x="6191250" y="4476750"/>
            <a:ext cx="5524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6B35"/>
                </a:solidFill>
              </a:defRPr>
            </a:pPr>
            <a:r>
              <a:rPr lang="fr-FR" sz="1500" b="1" noProof="0" dirty="0">
                <a:solidFill>
                  <a:srgbClr val="FF6B35"/>
                </a:solidFill>
              </a:rPr>
              <a:t>08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762391F-8154-4155-8C44-D865F6319CB1}"/>
              </a:ext>
            </a:extLst>
          </p:cNvPr>
          <p:cNvSpPr>
            <a:spLocks noGrp="1"/>
          </p:cNvSpPr>
          <p:nvPr/>
        </p:nvSpPr>
        <p:spPr>
          <a:xfrm>
            <a:off x="6896100" y="4438650"/>
            <a:ext cx="3905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lang="fr-FR" sz="2100" b="1" noProof="0" dirty="0">
                <a:solidFill>
                  <a:srgbClr val="000000"/>
                </a:solidFill>
              </a:rPr>
              <a:t>Limites &amp; recommandations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18B952F-1CA2-4945-A69F-9EF34AB8E20C}"/>
              </a:ext>
            </a:extLst>
          </p:cNvPr>
          <p:cNvSpPr>
            <a:spLocks noGrp="1"/>
          </p:cNvSpPr>
          <p:nvPr/>
        </p:nvSpPr>
        <p:spPr>
          <a:xfrm>
            <a:off x="6191250" y="5029200"/>
            <a:ext cx="443865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9BA8875-F506-4D95-8C3A-2FD3D6A764E8}"/>
              </a:ext>
            </a:extLst>
          </p:cNvPr>
          <p:cNvSpPr>
            <a:spLocks noGrp="1"/>
          </p:cNvSpPr>
          <p:nvPr/>
        </p:nvSpPr>
        <p:spPr>
          <a:xfrm>
            <a:off x="400050" y="6362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lang="fr-FR" sz="975" b="0" noProof="0" dirty="0">
                <a:solidFill>
                  <a:srgbClr val="555555"/>
                </a:solidFill>
              </a:rPr>
              <a:t>Soutenance IA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1716009-08D1-4422-89AE-1DEC64A86CD5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55555"/>
                </a:solidFill>
              </a:defRPr>
            </a:pPr>
            <a:r>
              <a:rPr lang="fr-FR" sz="1050" b="0" noProof="0" dirty="0">
                <a:solidFill>
                  <a:srgbClr val="555555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148885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D392464D-E2E8-4EB0-A27B-38F2F5AACB14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555555"/>
                </a:solidFill>
              </a:defRPr>
            </a:pPr>
            <a:r>
              <a:rPr lang="fr-FR" sz="1125" b="1" noProof="0" dirty="0">
                <a:solidFill>
                  <a:srgbClr val="555555"/>
                </a:solidFill>
              </a:rPr>
              <a:t>C1 · Contexte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B67EF50-6B3C-4EB0-B24F-1C4093D04614}"/>
              </a:ext>
            </a:extLst>
          </p:cNvPr>
          <p:cNvSpPr>
            <a:spLocks noGrp="1"/>
          </p:cNvSpPr>
          <p:nvPr/>
        </p:nvSpPr>
        <p:spPr>
          <a:xfrm>
            <a:off x="400050" y="819150"/>
            <a:ext cx="8572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00000"/>
                </a:solidFill>
              </a:defRPr>
            </a:pPr>
            <a:r>
              <a:rPr lang="fr-FR" sz="3000" b="1" noProof="0" dirty="0">
                <a:solidFill>
                  <a:srgbClr val="000000"/>
                </a:solidFill>
              </a:rPr>
              <a:t>Le besoin métier impose d'agir avant les partiels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464FC1-84AD-4C1A-B923-1DAAB8F0BE51}"/>
              </a:ext>
            </a:extLst>
          </p:cNvPr>
          <p:cNvSpPr>
            <a:spLocks noGrp="1"/>
          </p:cNvSpPr>
          <p:nvPr/>
        </p:nvSpPr>
        <p:spPr>
          <a:xfrm>
            <a:off x="400050" y="1752600"/>
            <a:ext cx="1139190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AB06A1-4A63-4749-9346-9ECF057DD3CC}"/>
              </a:ext>
            </a:extLst>
          </p:cNvPr>
          <p:cNvSpPr>
            <a:spLocks noGrp="1"/>
          </p:cNvSpPr>
          <p:nvPr/>
        </p:nvSpPr>
        <p:spPr>
          <a:xfrm>
            <a:off x="400050" y="6362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lang="fr-FR" sz="975" b="0" noProof="0" dirty="0">
                <a:solidFill>
                  <a:srgbClr val="555555"/>
                </a:solidFill>
              </a:rPr>
              <a:t>Soutenance IA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58DDECB-AE1B-4BDC-9B34-BE983C217084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55555"/>
                </a:solidFill>
              </a:defRPr>
            </a:pPr>
            <a:r>
              <a:rPr lang="fr-FR" sz="1050" b="0" noProof="0" dirty="0">
                <a:solidFill>
                  <a:srgbClr val="555555"/>
                </a:solidFill>
              </a:rPr>
              <a:t>03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FDF9A1-20A2-4B10-9870-403A03D21469}"/>
              </a:ext>
            </a:extLst>
          </p:cNvPr>
          <p:cNvSpPr>
            <a:spLocks noGrp="1"/>
          </p:cNvSpPr>
          <p:nvPr/>
        </p:nvSpPr>
        <p:spPr>
          <a:xfrm>
            <a:off x="762000" y="2305050"/>
            <a:ext cx="20955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5250" b="1">
                <a:solidFill>
                  <a:srgbClr val="FF6B35"/>
                </a:solidFill>
              </a:defRPr>
            </a:pPr>
            <a:r>
              <a:rPr lang="fr-FR" sz="5250" b="1" noProof="0" dirty="0">
                <a:solidFill>
                  <a:srgbClr val="FF6B35"/>
                </a:solidFill>
              </a:rPr>
              <a:t>28 %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5D72CC-8B55-46E0-8432-8A452D2BF59F}"/>
              </a:ext>
            </a:extLst>
          </p:cNvPr>
          <p:cNvSpPr>
            <a:spLocks noGrp="1"/>
          </p:cNvSpPr>
          <p:nvPr/>
        </p:nvSpPr>
        <p:spPr>
          <a:xfrm>
            <a:off x="781050" y="3219450"/>
            <a:ext cx="34290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000000"/>
                </a:solidFill>
              </a:defRPr>
            </a:pPr>
            <a:r>
              <a:rPr lang="fr-FR" sz="1950" b="1" noProof="0" dirty="0">
                <a:solidFill>
                  <a:srgbClr val="000000"/>
                </a:solidFill>
              </a:rPr>
              <a:t>d'abandon observé en L1 dans le jeu de données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10BA265-3083-4705-8E4A-94057B83F01D}"/>
              </a:ext>
            </a:extLst>
          </p:cNvPr>
          <p:cNvSpPr>
            <a:spLocks noGrp="1"/>
          </p:cNvSpPr>
          <p:nvPr/>
        </p:nvSpPr>
        <p:spPr>
          <a:xfrm>
            <a:off x="4857750" y="2247900"/>
            <a:ext cx="19050" cy="293370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F972FFC-05E6-4D40-AEC4-D541DB0C4FB5}"/>
              </a:ext>
            </a:extLst>
          </p:cNvPr>
          <p:cNvSpPr>
            <a:spLocks noGrp="1"/>
          </p:cNvSpPr>
          <p:nvPr/>
        </p:nvSpPr>
        <p:spPr>
          <a:xfrm>
            <a:off x="5334000" y="2266950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000000"/>
                </a:solidFill>
              </a:defRPr>
            </a:pPr>
            <a:r>
              <a:rPr lang="fr-FR" sz="1800" b="1" noProof="0" dirty="0">
                <a:solidFill>
                  <a:srgbClr val="000000"/>
                </a:solidFill>
              </a:rPr>
              <a:t>Problématique métier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612A32-AF8F-46AD-B148-4632D5C9D282}"/>
              </a:ext>
            </a:extLst>
          </p:cNvPr>
          <p:cNvSpPr>
            <a:spLocks noGrp="1"/>
          </p:cNvSpPr>
          <p:nvPr/>
        </p:nvSpPr>
        <p:spPr>
          <a:xfrm>
            <a:off x="5334000" y="2705100"/>
            <a:ext cx="53340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000000"/>
                </a:solidFill>
              </a:defRPr>
            </a:pPr>
            <a:r>
              <a:rPr lang="fr-FR" sz="2550" b="1" noProof="0" dirty="0">
                <a:solidFill>
                  <a:srgbClr val="000000"/>
                </a:solidFill>
              </a:rPr>
              <a:t>Quels étudiants accompagner en priorité dès le milieu du S1 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5119B1-CBC0-4121-9345-EFBC5D94B135}"/>
              </a:ext>
            </a:extLst>
          </p:cNvPr>
          <p:cNvSpPr>
            <a:spLocks noGrp="1"/>
          </p:cNvSpPr>
          <p:nvPr/>
        </p:nvSpPr>
        <p:spPr>
          <a:xfrm>
            <a:off x="5334000" y="4000500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555555"/>
                </a:solidFill>
              </a:defRPr>
            </a:pPr>
            <a:r>
              <a:rPr lang="fr-FR" sz="1800" b="1" noProof="0" dirty="0">
                <a:solidFill>
                  <a:srgbClr val="555555"/>
                </a:solidFill>
              </a:rPr>
              <a:t>Problématique IA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C690E6-BEE6-4F75-9CAE-02D993DE70DD}"/>
              </a:ext>
            </a:extLst>
          </p:cNvPr>
          <p:cNvSpPr>
            <a:spLocks noGrp="1"/>
          </p:cNvSpPr>
          <p:nvPr/>
        </p:nvSpPr>
        <p:spPr>
          <a:xfrm>
            <a:off x="5334000" y="4400550"/>
            <a:ext cx="5619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0">
                <a:solidFill>
                  <a:srgbClr val="202124"/>
                </a:solidFill>
              </a:defRPr>
            </a:pPr>
            <a:r>
              <a:rPr lang="fr-FR" sz="1875" b="0" noProof="0" dirty="0">
                <a:solidFill>
                  <a:srgbClr val="202124"/>
                </a:solidFill>
              </a:rPr>
              <a:t>Estimer une probabilité de décrochage avec les seules données disponibles à mi-S1.</a:t>
            </a:r>
          </a:p>
        </p:txBody>
      </p:sp>
    </p:spTree>
    <p:extLst>
      <p:ext uri="{BB962C8B-B14F-4D97-AF65-F5344CB8AC3E}">
        <p14:creationId xmlns:p14="http://schemas.microsoft.com/office/powerpoint/2010/main" val="1806147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C35B6FBB-05AA-446B-A900-1776C8EC3AD4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555555"/>
                </a:solidFill>
              </a:defRPr>
            </a:pPr>
            <a:r>
              <a:rPr lang="fr-FR" sz="1125" b="1" noProof="0" dirty="0">
                <a:solidFill>
                  <a:srgbClr val="555555"/>
                </a:solidFill>
              </a:rPr>
              <a:t>C1 · Cadrage IA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2B7361-5161-4A47-9E3B-CED32B6931F5}"/>
              </a:ext>
            </a:extLst>
          </p:cNvPr>
          <p:cNvSpPr>
            <a:spLocks noGrp="1"/>
          </p:cNvSpPr>
          <p:nvPr/>
        </p:nvSpPr>
        <p:spPr>
          <a:xfrm>
            <a:off x="400050" y="819150"/>
            <a:ext cx="98869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00000"/>
                </a:solidFill>
              </a:defRPr>
            </a:pPr>
            <a:r>
              <a:rPr lang="fr-FR" sz="3000" b="1" noProof="0" dirty="0">
                <a:solidFill>
                  <a:srgbClr val="000000"/>
                </a:solidFill>
              </a:rPr>
              <a:t>Le score priorise l'accompagnement, il ne rend pas de verdict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104882-C37C-4E57-BDDC-877A00D865E3}"/>
              </a:ext>
            </a:extLst>
          </p:cNvPr>
          <p:cNvSpPr>
            <a:spLocks noGrp="1"/>
          </p:cNvSpPr>
          <p:nvPr/>
        </p:nvSpPr>
        <p:spPr>
          <a:xfrm>
            <a:off x="400050" y="1752600"/>
            <a:ext cx="1139190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AC57F14-7F2F-4D70-A253-4696AC2F246D}"/>
              </a:ext>
            </a:extLst>
          </p:cNvPr>
          <p:cNvSpPr>
            <a:spLocks noGrp="1"/>
          </p:cNvSpPr>
          <p:nvPr/>
        </p:nvSpPr>
        <p:spPr>
          <a:xfrm>
            <a:off x="400050" y="6362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lang="fr-FR" sz="975" b="0" noProof="0" dirty="0">
                <a:solidFill>
                  <a:srgbClr val="555555"/>
                </a:solidFill>
              </a:rPr>
              <a:t>Soutenance IA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EEEA7D-58F6-4BDA-9000-C5FE210F6F32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55555"/>
                </a:solidFill>
              </a:defRPr>
            </a:pPr>
            <a:r>
              <a:rPr lang="fr-FR" sz="1050" b="0" noProof="0" dirty="0">
                <a:solidFill>
                  <a:srgbClr val="555555"/>
                </a:solidFill>
              </a:rPr>
              <a:t>04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7420B9-2628-4E0B-BDD9-284B9A2FD4E8}"/>
              </a:ext>
            </a:extLst>
          </p:cNvPr>
          <p:cNvSpPr>
            <a:spLocks noGrp="1"/>
          </p:cNvSpPr>
          <p:nvPr/>
        </p:nvSpPr>
        <p:spPr>
          <a:xfrm>
            <a:off x="914400" y="236220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555555"/>
                </a:solidFill>
              </a:defRPr>
            </a:pPr>
            <a:r>
              <a:rPr lang="fr-FR" sz="1500" b="1" noProof="0" dirty="0">
                <a:solidFill>
                  <a:srgbClr val="555555"/>
                </a:solidFill>
              </a:rPr>
              <a:t>Cible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7D1113-E51B-441D-9FD2-304C83A6842D}"/>
              </a:ext>
            </a:extLst>
          </p:cNvPr>
          <p:cNvSpPr>
            <a:spLocks noGrp="1"/>
          </p:cNvSpPr>
          <p:nvPr/>
        </p:nvSpPr>
        <p:spPr>
          <a:xfrm>
            <a:off x="4095750" y="236220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555555"/>
                </a:solidFill>
              </a:defRPr>
            </a:pPr>
            <a:r>
              <a:rPr lang="fr-FR" sz="1500" b="1" noProof="0" dirty="0">
                <a:solidFill>
                  <a:srgbClr val="555555"/>
                </a:solidFill>
              </a:rPr>
              <a:t>Type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021559-D025-4B03-95A5-B920A70EBB7D}"/>
              </a:ext>
            </a:extLst>
          </p:cNvPr>
          <p:cNvSpPr>
            <a:spLocks noGrp="1"/>
          </p:cNvSpPr>
          <p:nvPr/>
        </p:nvSpPr>
        <p:spPr>
          <a:xfrm>
            <a:off x="6762750" y="23622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555555"/>
                </a:solidFill>
              </a:defRPr>
            </a:pPr>
            <a:r>
              <a:rPr lang="fr-FR" sz="1500" b="1" noProof="0" dirty="0">
                <a:solidFill>
                  <a:srgbClr val="555555"/>
                </a:solidFill>
              </a:rPr>
              <a:t>Usage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F1CB8C-03F3-4486-9C6A-757040BEC054}"/>
              </a:ext>
            </a:extLst>
          </p:cNvPr>
          <p:cNvSpPr>
            <a:spLocks noGrp="1"/>
          </p:cNvSpPr>
          <p:nvPr/>
        </p:nvSpPr>
        <p:spPr>
          <a:xfrm>
            <a:off x="742950" y="2705100"/>
            <a:ext cx="10668000" cy="8001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EB9066-F35B-4A06-BDD0-3C7C685D08F1}"/>
              </a:ext>
            </a:extLst>
          </p:cNvPr>
          <p:cNvSpPr>
            <a:spLocks noGrp="1"/>
          </p:cNvSpPr>
          <p:nvPr/>
        </p:nvSpPr>
        <p:spPr>
          <a:xfrm>
            <a:off x="914400" y="28765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000000"/>
                </a:solidFill>
              </a:defRPr>
            </a:pPr>
            <a:r>
              <a:rPr lang="fr-FR" sz="1950" b="1" noProof="0" dirty="0">
                <a:solidFill>
                  <a:srgbClr val="000000"/>
                </a:solidFill>
              </a:rPr>
              <a:t>abandon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A2AB4BF-D394-4B1E-946F-2FCE3364040C}"/>
              </a:ext>
            </a:extLst>
          </p:cNvPr>
          <p:cNvSpPr>
            <a:spLocks noGrp="1"/>
          </p:cNvSpPr>
          <p:nvPr/>
        </p:nvSpPr>
        <p:spPr>
          <a:xfrm>
            <a:off x="4095750" y="28765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0">
                <a:solidFill>
                  <a:srgbClr val="000000"/>
                </a:solidFill>
              </a:defRPr>
            </a:pPr>
            <a:r>
              <a:rPr lang="fr-FR" sz="1875" b="0" noProof="0" dirty="0">
                <a:solidFill>
                  <a:srgbClr val="000000"/>
                </a:solidFill>
              </a:rPr>
              <a:t>Classification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03123C-EE57-42E0-824B-29384E535AD3}"/>
              </a:ext>
            </a:extLst>
          </p:cNvPr>
          <p:cNvSpPr>
            <a:spLocks noGrp="1"/>
          </p:cNvSpPr>
          <p:nvPr/>
        </p:nvSpPr>
        <p:spPr>
          <a:xfrm>
            <a:off x="6762750" y="2876550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0">
                <a:solidFill>
                  <a:srgbClr val="000000"/>
                </a:solidFill>
              </a:defRPr>
            </a:pPr>
            <a:r>
              <a:rPr lang="fr-FR" sz="1875" b="0" noProof="0" dirty="0">
                <a:solidFill>
                  <a:srgbClr val="000000"/>
                </a:solidFill>
              </a:rPr>
              <a:t>Prioriser l'accompagnement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AD94CC-336F-43F8-A2CE-488555768D23}"/>
              </a:ext>
            </a:extLst>
          </p:cNvPr>
          <p:cNvSpPr>
            <a:spLocks noGrp="1"/>
          </p:cNvSpPr>
          <p:nvPr/>
        </p:nvSpPr>
        <p:spPr>
          <a:xfrm>
            <a:off x="742950" y="3771900"/>
            <a:ext cx="10668000" cy="800100"/>
          </a:xfrm>
          <a:prstGeom prst="rect">
            <a:avLst/>
          </a:prstGeom>
          <a:solidFill>
            <a:srgbClr val="FFFFFF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E7B8F36-EBFF-4F00-ABA8-3A052C1151FA}"/>
              </a:ext>
            </a:extLst>
          </p:cNvPr>
          <p:cNvSpPr>
            <a:spLocks noGrp="1"/>
          </p:cNvSpPr>
          <p:nvPr/>
        </p:nvSpPr>
        <p:spPr>
          <a:xfrm>
            <a:off x="914400" y="39433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000000"/>
                </a:solidFill>
              </a:defRPr>
            </a:pPr>
            <a:r>
              <a:rPr lang="fr-FR" sz="1950" b="1" noProof="0" dirty="0" err="1">
                <a:solidFill>
                  <a:srgbClr val="000000"/>
                </a:solidFill>
              </a:rPr>
              <a:t>moyenne_finale</a:t>
            </a:r>
            <a:endParaRPr lang="fr-FR" sz="1950" b="1" noProof="0" dirty="0">
              <a:solidFill>
                <a:srgbClr val="00000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226DAB-74F3-4DF1-A6D8-1AF5CDDFF5BD}"/>
              </a:ext>
            </a:extLst>
          </p:cNvPr>
          <p:cNvSpPr>
            <a:spLocks noGrp="1"/>
          </p:cNvSpPr>
          <p:nvPr/>
        </p:nvSpPr>
        <p:spPr>
          <a:xfrm>
            <a:off x="4095750" y="39433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0">
                <a:solidFill>
                  <a:srgbClr val="000000"/>
                </a:solidFill>
              </a:defRPr>
            </a:pPr>
            <a:r>
              <a:rPr lang="fr-FR" sz="1875" b="0" noProof="0" dirty="0">
                <a:solidFill>
                  <a:srgbClr val="000000"/>
                </a:solidFill>
              </a:rPr>
              <a:t>Régression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EFD287-4880-42DA-8CED-C8CDC4AC1D3F}"/>
              </a:ext>
            </a:extLst>
          </p:cNvPr>
          <p:cNvSpPr>
            <a:spLocks noGrp="1"/>
          </p:cNvSpPr>
          <p:nvPr/>
        </p:nvSpPr>
        <p:spPr>
          <a:xfrm>
            <a:off x="6762750" y="3943350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0">
                <a:solidFill>
                  <a:srgbClr val="000000"/>
                </a:solidFill>
              </a:defRPr>
            </a:pPr>
            <a:r>
              <a:rPr lang="fr-FR" sz="1875" b="0" noProof="0" dirty="0">
                <a:solidFill>
                  <a:srgbClr val="000000"/>
                </a:solidFill>
              </a:rPr>
              <a:t>Calibrer l'intensité de l'aide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ADAF23-7E3A-463A-8FBB-0B4F7C44F2EA}"/>
              </a:ext>
            </a:extLst>
          </p:cNvPr>
          <p:cNvSpPr>
            <a:spLocks noGrp="1"/>
          </p:cNvSpPr>
          <p:nvPr/>
        </p:nvSpPr>
        <p:spPr>
          <a:xfrm>
            <a:off x="914400" y="5219700"/>
            <a:ext cx="904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FF6B35"/>
                </a:solidFill>
              </a:defRPr>
            </a:pPr>
            <a:r>
              <a:rPr lang="fr-FR" sz="2025" b="1" noProof="0" dirty="0">
                <a:solidFill>
                  <a:srgbClr val="FF6B35"/>
                </a:solidFill>
              </a:rPr>
              <a:t>Sortie : un score de risque + une alerte au seuil métier.</a:t>
            </a:r>
          </a:p>
        </p:txBody>
      </p:sp>
    </p:spTree>
    <p:extLst>
      <p:ext uri="{BB962C8B-B14F-4D97-AF65-F5344CB8AC3E}">
        <p14:creationId xmlns:p14="http://schemas.microsoft.com/office/powerpoint/2010/main" val="19144431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4CE51E9C-8D4E-4D07-BCF5-720987429A6E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555555"/>
                </a:solidFill>
              </a:defRPr>
            </a:pPr>
            <a:r>
              <a:rPr lang="fr-FR" sz="1125" b="1" noProof="0" dirty="0">
                <a:solidFill>
                  <a:srgbClr val="555555"/>
                </a:solidFill>
              </a:rPr>
              <a:t>C1 / C3 · Données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B4D20CB-234D-41F8-890A-446989FC22A5}"/>
              </a:ext>
            </a:extLst>
          </p:cNvPr>
          <p:cNvSpPr>
            <a:spLocks noGrp="1"/>
          </p:cNvSpPr>
          <p:nvPr/>
        </p:nvSpPr>
        <p:spPr>
          <a:xfrm>
            <a:off x="400050" y="819150"/>
            <a:ext cx="113919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00000"/>
                </a:solidFill>
              </a:defRPr>
            </a:pPr>
            <a:r>
              <a:rPr lang="fr-FR" sz="3000" b="1" noProof="0" dirty="0">
                <a:solidFill>
                  <a:srgbClr val="000000"/>
                </a:solidFill>
              </a:rPr>
              <a:t>Trois pièges rendent un modèle inutilisable s'ils ne sont pas verrouillés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BB2334-1D94-4418-9E3E-BF0259843A14}"/>
              </a:ext>
            </a:extLst>
          </p:cNvPr>
          <p:cNvSpPr>
            <a:spLocks noGrp="1"/>
          </p:cNvSpPr>
          <p:nvPr/>
        </p:nvSpPr>
        <p:spPr>
          <a:xfrm>
            <a:off x="400050" y="1752600"/>
            <a:ext cx="1139190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D15FAA6-7962-44FD-BD9C-BC95E66FCA5B}"/>
              </a:ext>
            </a:extLst>
          </p:cNvPr>
          <p:cNvSpPr>
            <a:spLocks noGrp="1"/>
          </p:cNvSpPr>
          <p:nvPr/>
        </p:nvSpPr>
        <p:spPr>
          <a:xfrm>
            <a:off x="400050" y="6362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lang="fr-FR" sz="975" b="0" noProof="0" dirty="0">
                <a:solidFill>
                  <a:srgbClr val="555555"/>
                </a:solidFill>
              </a:rPr>
              <a:t>Soutenance IA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7E6AF5-6172-4CC1-AE00-319F7938C56B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55555"/>
                </a:solidFill>
              </a:defRPr>
            </a:pPr>
            <a:r>
              <a:rPr lang="fr-FR" sz="1050" b="0" noProof="0" dirty="0">
                <a:solidFill>
                  <a:srgbClr val="555555"/>
                </a:solidFill>
              </a:rPr>
              <a:t>05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0DB970-01B2-4817-82FB-07F765C60061}"/>
              </a:ext>
            </a:extLst>
          </p:cNvPr>
          <p:cNvSpPr>
            <a:spLocks noGrp="1"/>
          </p:cNvSpPr>
          <p:nvPr/>
        </p:nvSpPr>
        <p:spPr>
          <a:xfrm>
            <a:off x="742950" y="2286000"/>
            <a:ext cx="285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lang="fr-FR" sz="2100" b="1" noProof="0" dirty="0">
                <a:solidFill>
                  <a:srgbClr val="000000"/>
                </a:solidFill>
              </a:rPr>
              <a:t>Fuite de données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FE1052-A5D9-4846-A9F5-5F9A77449D77}"/>
              </a:ext>
            </a:extLst>
          </p:cNvPr>
          <p:cNvSpPr>
            <a:spLocks noGrp="1"/>
          </p:cNvSpPr>
          <p:nvPr/>
        </p:nvSpPr>
        <p:spPr>
          <a:xfrm>
            <a:off x="4000500" y="23050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0">
                <a:solidFill>
                  <a:srgbClr val="202124"/>
                </a:solidFill>
              </a:defRPr>
            </a:pPr>
            <a:r>
              <a:rPr lang="fr-FR" sz="1725" b="0" noProof="0" dirty="0">
                <a:solidFill>
                  <a:srgbClr val="202124"/>
                </a:solidFill>
              </a:rPr>
              <a:t>moyenne finale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23ABA3-FDCF-405F-9996-31E6874EA0D6}"/>
              </a:ext>
            </a:extLst>
          </p:cNvPr>
          <p:cNvSpPr>
            <a:spLocks noGrp="1"/>
          </p:cNvSpPr>
          <p:nvPr/>
        </p:nvSpPr>
        <p:spPr>
          <a:xfrm>
            <a:off x="7715250" y="2305050"/>
            <a:ext cx="3333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FF6B35"/>
                </a:solidFill>
              </a:defRPr>
            </a:pPr>
            <a:r>
              <a:rPr lang="fr-FR" sz="1800" b="1" noProof="0" dirty="0">
                <a:solidFill>
                  <a:srgbClr val="FF6B35"/>
                </a:solidFill>
              </a:rPr>
              <a:t>Exclue des </a:t>
            </a:r>
            <a:r>
              <a:rPr lang="fr-FR" sz="1800" b="1" noProof="0" dirty="0" err="1">
                <a:solidFill>
                  <a:srgbClr val="FF6B35"/>
                </a:solidFill>
              </a:rPr>
              <a:t>features</a:t>
            </a:r>
            <a:endParaRPr lang="fr-FR" sz="1800" b="1" noProof="0" dirty="0">
              <a:solidFill>
                <a:srgbClr val="FF6B35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DC5E20-CA03-4D41-9C59-EB8C23FDD6EC}"/>
              </a:ext>
            </a:extLst>
          </p:cNvPr>
          <p:cNvSpPr>
            <a:spLocks noGrp="1"/>
          </p:cNvSpPr>
          <p:nvPr/>
        </p:nvSpPr>
        <p:spPr>
          <a:xfrm>
            <a:off x="742950" y="2876550"/>
            <a:ext cx="1028700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66C2F9F-9132-4998-B0DA-D0D7E8217F59}"/>
              </a:ext>
            </a:extLst>
          </p:cNvPr>
          <p:cNvSpPr>
            <a:spLocks noGrp="1"/>
          </p:cNvSpPr>
          <p:nvPr/>
        </p:nvSpPr>
        <p:spPr>
          <a:xfrm>
            <a:off x="742950" y="3238500"/>
            <a:ext cx="285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lang="fr-FR" sz="2100" b="1" noProof="0" dirty="0">
                <a:solidFill>
                  <a:srgbClr val="000000"/>
                </a:solidFill>
              </a:rPr>
              <a:t>Fuite temporelle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D77160E-A6CD-488F-A5A2-83585BF9F232}"/>
              </a:ext>
            </a:extLst>
          </p:cNvPr>
          <p:cNvSpPr>
            <a:spLocks noGrp="1"/>
          </p:cNvSpPr>
          <p:nvPr/>
        </p:nvSpPr>
        <p:spPr>
          <a:xfrm>
            <a:off x="4000500" y="32575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0">
                <a:solidFill>
                  <a:srgbClr val="202124"/>
                </a:solidFill>
              </a:defRPr>
            </a:pPr>
            <a:r>
              <a:rPr lang="fr-FR" sz="1725" b="0" noProof="0" dirty="0">
                <a:solidFill>
                  <a:srgbClr val="202124"/>
                </a:solidFill>
              </a:rPr>
              <a:t>partiels S1, UE validées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4789AB-DF13-499D-96E1-EC81AE21426D}"/>
              </a:ext>
            </a:extLst>
          </p:cNvPr>
          <p:cNvSpPr>
            <a:spLocks noGrp="1"/>
          </p:cNvSpPr>
          <p:nvPr/>
        </p:nvSpPr>
        <p:spPr>
          <a:xfrm>
            <a:off x="7715250" y="3257550"/>
            <a:ext cx="3333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FF6B35"/>
                </a:solidFill>
              </a:defRPr>
            </a:pPr>
            <a:r>
              <a:rPr lang="fr-FR" sz="1800" b="1" noProof="0" dirty="0">
                <a:solidFill>
                  <a:srgbClr val="FF6B35"/>
                </a:solidFill>
              </a:rPr>
              <a:t>Hors périmètre mi-S1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A8DF9D-2C24-4E16-8A66-8029DF9801FE}"/>
              </a:ext>
            </a:extLst>
          </p:cNvPr>
          <p:cNvSpPr>
            <a:spLocks noGrp="1"/>
          </p:cNvSpPr>
          <p:nvPr/>
        </p:nvSpPr>
        <p:spPr>
          <a:xfrm>
            <a:off x="742950" y="3829050"/>
            <a:ext cx="1028700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B60088-DF43-4F2A-95CD-A7C777D0DB30}"/>
              </a:ext>
            </a:extLst>
          </p:cNvPr>
          <p:cNvSpPr>
            <a:spLocks noGrp="1"/>
          </p:cNvSpPr>
          <p:nvPr/>
        </p:nvSpPr>
        <p:spPr>
          <a:xfrm>
            <a:off x="742950" y="4191000"/>
            <a:ext cx="285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lang="fr-FR" sz="2100" b="1" noProof="0" dirty="0">
                <a:solidFill>
                  <a:srgbClr val="000000"/>
                </a:solidFill>
              </a:rPr>
              <a:t>Leurres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4154515-6D76-407D-9D30-34376B8E1B72}"/>
              </a:ext>
            </a:extLst>
          </p:cNvPr>
          <p:cNvSpPr>
            <a:spLocks noGrp="1"/>
          </p:cNvSpPr>
          <p:nvPr/>
        </p:nvSpPr>
        <p:spPr>
          <a:xfrm>
            <a:off x="4000500" y="42100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0">
                <a:solidFill>
                  <a:srgbClr val="202124"/>
                </a:solidFill>
              </a:defRPr>
            </a:pPr>
            <a:r>
              <a:rPr lang="fr-FR" sz="1725" b="0" noProof="0" dirty="0" err="1">
                <a:solidFill>
                  <a:srgbClr val="202124"/>
                </a:solidFill>
              </a:rPr>
              <a:t>groupe_td</a:t>
            </a:r>
            <a:r>
              <a:rPr lang="fr-FR" sz="1725" b="0" noProof="0" dirty="0">
                <a:solidFill>
                  <a:srgbClr val="202124"/>
                </a:solidFill>
              </a:rPr>
              <a:t>, couleur carte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97F0813-E433-4EE3-894A-4FCBBFBAA52B}"/>
              </a:ext>
            </a:extLst>
          </p:cNvPr>
          <p:cNvSpPr>
            <a:spLocks noGrp="1"/>
          </p:cNvSpPr>
          <p:nvPr/>
        </p:nvSpPr>
        <p:spPr>
          <a:xfrm>
            <a:off x="7715250" y="4210050"/>
            <a:ext cx="3333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555555"/>
                </a:solidFill>
              </a:defRPr>
            </a:pPr>
            <a:r>
              <a:rPr lang="fr-FR" sz="1800" b="1" noProof="0" dirty="0">
                <a:solidFill>
                  <a:srgbClr val="555555"/>
                </a:solidFill>
              </a:rPr>
              <a:t>Prouvés inutiles, exclus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99806BE-B0C0-4C2E-A2B3-58AC46497ED8}"/>
              </a:ext>
            </a:extLst>
          </p:cNvPr>
          <p:cNvSpPr>
            <a:spLocks noGrp="1"/>
          </p:cNvSpPr>
          <p:nvPr/>
        </p:nvSpPr>
        <p:spPr>
          <a:xfrm>
            <a:off x="742950" y="4781550"/>
            <a:ext cx="1028700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5BBD835-6C5C-44DB-AC01-6DF8FBB7C1FC}"/>
              </a:ext>
            </a:extLst>
          </p:cNvPr>
          <p:cNvSpPr>
            <a:spLocks noGrp="1"/>
          </p:cNvSpPr>
          <p:nvPr/>
        </p:nvSpPr>
        <p:spPr>
          <a:xfrm>
            <a:off x="781050" y="5381625"/>
            <a:ext cx="9810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000000"/>
                </a:solidFill>
              </a:defRPr>
            </a:pPr>
            <a:r>
              <a:rPr lang="fr-FR" sz="1950" b="1" noProof="0" dirty="0">
                <a:solidFill>
                  <a:srgbClr val="000000"/>
                </a:solidFill>
              </a:rPr>
              <a:t>Garde-fou : </a:t>
            </a:r>
            <a:r>
              <a:rPr lang="fr-FR" sz="1950" b="1" noProof="0" dirty="0" err="1">
                <a:solidFill>
                  <a:srgbClr val="000000"/>
                </a:solidFill>
              </a:rPr>
              <a:t>assert_no_leakage</a:t>
            </a:r>
            <a:r>
              <a:rPr lang="fr-FR" sz="1950" b="1" noProof="0" dirty="0">
                <a:solidFill>
                  <a:srgbClr val="000000"/>
                </a:solidFill>
              </a:rPr>
              <a:t> bloque toute colonne interdite avant entraînement.</a:t>
            </a:r>
          </a:p>
        </p:txBody>
      </p:sp>
    </p:spTree>
    <p:extLst>
      <p:ext uri="{BB962C8B-B14F-4D97-AF65-F5344CB8AC3E}">
        <p14:creationId xmlns:p14="http://schemas.microsoft.com/office/powerpoint/2010/main" val="10740594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AAC9E83-67BE-483D-B2D6-393AD561F328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555555"/>
                </a:solidFill>
              </a:defRPr>
            </a:pPr>
            <a:r>
              <a:rPr lang="fr-FR" sz="1125" b="1" noProof="0" dirty="0">
                <a:solidFill>
                  <a:srgbClr val="555555"/>
                </a:solidFill>
              </a:rPr>
              <a:t>C2 · Éthique, RGPD &amp; biais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3030C3-749C-42FC-A945-41C93FCBA116}"/>
              </a:ext>
            </a:extLst>
          </p:cNvPr>
          <p:cNvSpPr>
            <a:spLocks noGrp="1"/>
          </p:cNvSpPr>
          <p:nvPr/>
        </p:nvSpPr>
        <p:spPr>
          <a:xfrm>
            <a:off x="400050" y="819150"/>
            <a:ext cx="8572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00000"/>
                </a:solidFill>
              </a:defRPr>
            </a:pPr>
            <a:r>
              <a:rPr lang="fr-FR" sz="3000" b="1" noProof="0" dirty="0">
                <a:solidFill>
                  <a:srgbClr val="000000"/>
                </a:solidFill>
              </a:rPr>
              <a:t>L'IA doit aider sans automatiser ni stigmatiser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803C07-926D-4453-BBDF-4ADE72F1BE94}"/>
              </a:ext>
            </a:extLst>
          </p:cNvPr>
          <p:cNvSpPr>
            <a:spLocks noGrp="1"/>
          </p:cNvSpPr>
          <p:nvPr/>
        </p:nvSpPr>
        <p:spPr>
          <a:xfrm>
            <a:off x="400050" y="1752600"/>
            <a:ext cx="1139190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6472CB-635F-4CB7-A05E-AB0A0589EAAD}"/>
              </a:ext>
            </a:extLst>
          </p:cNvPr>
          <p:cNvSpPr>
            <a:spLocks noGrp="1"/>
          </p:cNvSpPr>
          <p:nvPr/>
        </p:nvSpPr>
        <p:spPr>
          <a:xfrm>
            <a:off x="400050" y="6362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lang="fr-FR" sz="975" b="0" noProof="0" dirty="0">
                <a:solidFill>
                  <a:srgbClr val="555555"/>
                </a:solidFill>
              </a:rPr>
              <a:t>Soutenance IA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4138CE-ECDB-405B-A82A-B802CF7BD4F0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55555"/>
                </a:solidFill>
              </a:defRPr>
            </a:pPr>
            <a:r>
              <a:rPr lang="fr-FR" sz="1050" b="0" noProof="0" dirty="0">
                <a:solidFill>
                  <a:srgbClr val="555555"/>
                </a:solidFill>
              </a:rPr>
              <a:t>06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807B66-76ED-4F0E-9503-C0BE532B2223}"/>
              </a:ext>
            </a:extLst>
          </p:cNvPr>
          <p:cNvSpPr>
            <a:spLocks noGrp="1"/>
          </p:cNvSpPr>
          <p:nvPr/>
        </p:nvSpPr>
        <p:spPr>
          <a:xfrm>
            <a:off x="742950" y="2324100"/>
            <a:ext cx="3048000" cy="2381250"/>
          </a:xfrm>
          <a:prstGeom prst="rect">
            <a:avLst/>
          </a:prstGeom>
          <a:solidFill>
            <a:srgbClr val="F5F5F5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8545F5-7A46-4526-95BA-4A15A5C357A3}"/>
              </a:ext>
            </a:extLst>
          </p:cNvPr>
          <p:cNvSpPr>
            <a:spLocks noGrp="1"/>
          </p:cNvSpPr>
          <p:nvPr/>
        </p:nvSpPr>
        <p:spPr>
          <a:xfrm>
            <a:off x="971550" y="2590800"/>
            <a:ext cx="247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000000"/>
                </a:solidFill>
              </a:defRPr>
            </a:pPr>
            <a:r>
              <a:rPr lang="fr-FR" sz="2250" b="1" noProof="0" dirty="0">
                <a:solidFill>
                  <a:srgbClr val="000000"/>
                </a:solidFill>
              </a:rPr>
              <a:t>Biais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CC53A44-B93E-4C96-8F52-4D3DB4906BDF}"/>
              </a:ext>
            </a:extLst>
          </p:cNvPr>
          <p:cNvSpPr>
            <a:spLocks noGrp="1"/>
          </p:cNvSpPr>
          <p:nvPr/>
        </p:nvSpPr>
        <p:spPr>
          <a:xfrm>
            <a:off x="971550" y="3238500"/>
            <a:ext cx="2476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202124"/>
                </a:solidFill>
              </a:defRPr>
            </a:pPr>
            <a:r>
              <a:rPr lang="fr-FR" sz="1650" b="0" noProof="0" dirty="0">
                <a:solidFill>
                  <a:srgbClr val="202124"/>
                </a:solidFill>
              </a:rPr>
              <a:t>Variables sensibles et proxys possibles, même après retrait direct.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AB2B8FD-F30E-4BF7-8517-F69D5E05A473}"/>
              </a:ext>
            </a:extLst>
          </p:cNvPr>
          <p:cNvSpPr>
            <a:spLocks noGrp="1"/>
          </p:cNvSpPr>
          <p:nvPr/>
        </p:nvSpPr>
        <p:spPr>
          <a:xfrm>
            <a:off x="4314825" y="2324100"/>
            <a:ext cx="3048000" cy="2381250"/>
          </a:xfrm>
          <a:prstGeom prst="rect">
            <a:avLst/>
          </a:prstGeom>
          <a:solidFill>
            <a:srgbClr val="F5F5F5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7DF9A72-6092-4355-BD38-A840F6C26BA2}"/>
              </a:ext>
            </a:extLst>
          </p:cNvPr>
          <p:cNvSpPr>
            <a:spLocks noGrp="1"/>
          </p:cNvSpPr>
          <p:nvPr/>
        </p:nvSpPr>
        <p:spPr>
          <a:xfrm>
            <a:off x="4543425" y="2590800"/>
            <a:ext cx="247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000000"/>
                </a:solidFill>
              </a:defRPr>
            </a:pPr>
            <a:r>
              <a:rPr lang="fr-FR" sz="2250" b="1" noProof="0" dirty="0">
                <a:solidFill>
                  <a:srgbClr val="000000"/>
                </a:solidFill>
              </a:rPr>
              <a:t>Effet de marquage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1ABE32-4881-44D1-B009-14611D73C629}"/>
              </a:ext>
            </a:extLst>
          </p:cNvPr>
          <p:cNvSpPr>
            <a:spLocks noGrp="1"/>
          </p:cNvSpPr>
          <p:nvPr/>
        </p:nvSpPr>
        <p:spPr>
          <a:xfrm>
            <a:off x="4543425" y="3238500"/>
            <a:ext cx="2476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202124"/>
                </a:solidFill>
              </a:defRPr>
            </a:pPr>
            <a:r>
              <a:rPr lang="fr-FR" sz="1650" b="0" noProof="0" dirty="0">
                <a:solidFill>
                  <a:srgbClr val="202124"/>
                </a:solidFill>
              </a:rPr>
              <a:t>Une alerte « à risque » influence le regard porté sur l'étudiant.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75B76AC-68C0-4A52-AAAD-D33A28B91523}"/>
              </a:ext>
            </a:extLst>
          </p:cNvPr>
          <p:cNvSpPr>
            <a:spLocks noGrp="1"/>
          </p:cNvSpPr>
          <p:nvPr/>
        </p:nvSpPr>
        <p:spPr>
          <a:xfrm>
            <a:off x="7886700" y="2324100"/>
            <a:ext cx="3048000" cy="2381250"/>
          </a:xfrm>
          <a:prstGeom prst="rect">
            <a:avLst/>
          </a:prstGeom>
          <a:solidFill>
            <a:srgbClr val="F5F5F5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2CD59AB-70EE-49B7-A964-528FE41F822C}"/>
              </a:ext>
            </a:extLst>
          </p:cNvPr>
          <p:cNvSpPr>
            <a:spLocks noGrp="1"/>
          </p:cNvSpPr>
          <p:nvPr/>
        </p:nvSpPr>
        <p:spPr>
          <a:xfrm>
            <a:off x="8115300" y="2590800"/>
            <a:ext cx="247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000000"/>
                </a:solidFill>
              </a:defRPr>
            </a:pPr>
            <a:r>
              <a:rPr lang="fr-FR" sz="2250" b="1" noProof="0" dirty="0">
                <a:solidFill>
                  <a:srgbClr val="000000"/>
                </a:solidFill>
              </a:rPr>
              <a:t>RGPD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6F24CDF-5499-4843-A6A9-FC5F2EEE49C1}"/>
              </a:ext>
            </a:extLst>
          </p:cNvPr>
          <p:cNvSpPr>
            <a:spLocks noGrp="1"/>
          </p:cNvSpPr>
          <p:nvPr/>
        </p:nvSpPr>
        <p:spPr>
          <a:xfrm>
            <a:off x="8115300" y="3238500"/>
            <a:ext cx="2476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202124"/>
                </a:solidFill>
              </a:defRPr>
            </a:pPr>
            <a:r>
              <a:rPr lang="fr-FR" sz="1650" b="0" noProof="0" dirty="0">
                <a:solidFill>
                  <a:srgbClr val="202124"/>
                </a:solidFill>
              </a:rPr>
              <a:t>Finalité limitée, information, minimisation et décision humaine.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1AFCE34-6E3F-4C13-B4F0-997A1ECE2C02}"/>
              </a:ext>
            </a:extLst>
          </p:cNvPr>
          <p:cNvSpPr>
            <a:spLocks noGrp="1"/>
          </p:cNvSpPr>
          <p:nvPr/>
        </p:nvSpPr>
        <p:spPr>
          <a:xfrm>
            <a:off x="742950" y="5257800"/>
            <a:ext cx="933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FF6B35"/>
                </a:solidFill>
              </a:defRPr>
            </a:pPr>
            <a:r>
              <a:rPr lang="fr-FR" sz="2025" b="1" noProof="0" dirty="0">
                <a:solidFill>
                  <a:srgbClr val="FF6B35"/>
                </a:solidFill>
              </a:rPr>
              <a:t>Garde-fous : explicabilité · audit d'équité · usage encadré · minimisation.</a:t>
            </a:r>
          </a:p>
        </p:txBody>
      </p:sp>
    </p:spTree>
    <p:extLst>
      <p:ext uri="{BB962C8B-B14F-4D97-AF65-F5344CB8AC3E}">
        <p14:creationId xmlns:p14="http://schemas.microsoft.com/office/powerpoint/2010/main" val="5827256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6AAFC8-B31B-481E-856A-2317AC3CC04B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555555"/>
                </a:solidFill>
              </a:defRPr>
            </a:pPr>
            <a:r>
              <a:rPr lang="fr-FR" sz="1125" b="1" noProof="0" dirty="0">
                <a:solidFill>
                  <a:srgbClr val="555555"/>
                </a:solidFill>
              </a:rPr>
              <a:t>C3 · Préparation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B4390EA-A2C9-44A2-AE63-D55B6CD91360}"/>
              </a:ext>
            </a:extLst>
          </p:cNvPr>
          <p:cNvSpPr>
            <a:spLocks noGrp="1"/>
          </p:cNvSpPr>
          <p:nvPr/>
        </p:nvSpPr>
        <p:spPr>
          <a:xfrm>
            <a:off x="400050" y="819150"/>
            <a:ext cx="113919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00000"/>
                </a:solidFill>
              </a:defRPr>
            </a:pPr>
            <a:r>
              <a:rPr lang="fr-FR" sz="3000" b="1" noProof="0" dirty="0">
                <a:solidFill>
                  <a:srgbClr val="000000"/>
                </a:solidFill>
              </a:rPr>
              <a:t>La préparation est déterministe et rejouable en production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BF0B47-523F-42EE-9D22-2AEF16500B8A}"/>
              </a:ext>
            </a:extLst>
          </p:cNvPr>
          <p:cNvSpPr>
            <a:spLocks noGrp="1"/>
          </p:cNvSpPr>
          <p:nvPr/>
        </p:nvSpPr>
        <p:spPr>
          <a:xfrm>
            <a:off x="400050" y="1752600"/>
            <a:ext cx="1139190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D9C19C-5DFE-49FA-AF40-32BA597F9E73}"/>
              </a:ext>
            </a:extLst>
          </p:cNvPr>
          <p:cNvSpPr>
            <a:spLocks noGrp="1"/>
          </p:cNvSpPr>
          <p:nvPr/>
        </p:nvSpPr>
        <p:spPr>
          <a:xfrm>
            <a:off x="400050" y="6362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lang="fr-FR" sz="975" b="0" noProof="0" dirty="0">
                <a:solidFill>
                  <a:srgbClr val="555555"/>
                </a:solidFill>
              </a:rPr>
              <a:t>Soutenance IA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F6CFF1-BF51-4549-B38D-8D1443F1F067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55555"/>
                </a:solidFill>
              </a:defRPr>
            </a:pPr>
            <a:r>
              <a:rPr lang="fr-FR" sz="1050" b="0" noProof="0" dirty="0">
                <a:solidFill>
                  <a:srgbClr val="555555"/>
                </a:solidFill>
              </a:rPr>
              <a:t>07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67C96D-FCC4-49F0-BE0F-6F2BFD7C68B6}"/>
              </a:ext>
            </a:extLst>
          </p:cNvPr>
          <p:cNvSpPr>
            <a:spLocks noGrp="1"/>
          </p:cNvSpPr>
          <p:nvPr/>
        </p:nvSpPr>
        <p:spPr>
          <a:xfrm>
            <a:off x="400050" y="2266950"/>
            <a:ext cx="6724650" cy="2476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202124"/>
                </a:solidFill>
              </a:defRPr>
            </a:pPr>
            <a:r>
              <a:rPr lang="fr-FR" sz="1800" b="0" noProof="0" dirty="0">
                <a:solidFill>
                  <a:srgbClr val="202124"/>
                </a:solidFill>
              </a:rPr>
              <a:t>• 40 doublons supprimés pour revenir à 5 200 lignes.</a:t>
            </a:r>
          </a:p>
          <a:p>
            <a:pPr algn="l">
              <a:defRPr sz="1800" b="0">
                <a:solidFill>
                  <a:srgbClr val="202124"/>
                </a:solidFill>
              </a:defRPr>
            </a:pPr>
            <a:r>
              <a:rPr lang="fr-FR" sz="1800" b="0" noProof="0" dirty="0">
                <a:solidFill>
                  <a:srgbClr val="202124"/>
                </a:solidFill>
              </a:rPr>
              <a:t>• Nombres en texte convertis : « 61,8 », « 61.4% », « 14.4 km ».</a:t>
            </a:r>
          </a:p>
          <a:p>
            <a:pPr algn="l">
              <a:defRPr sz="1800" b="0">
                <a:solidFill>
                  <a:srgbClr val="202124"/>
                </a:solidFill>
              </a:defRPr>
            </a:pPr>
            <a:r>
              <a:rPr lang="fr-FR" sz="1800" b="0" noProof="0" dirty="0">
                <a:solidFill>
                  <a:srgbClr val="202124"/>
                </a:solidFill>
              </a:rPr>
              <a:t>• Dates </a:t>
            </a:r>
            <a:r>
              <a:rPr lang="fr-FR" sz="1800" b="0" noProof="0" dirty="0" err="1">
                <a:solidFill>
                  <a:srgbClr val="202124"/>
                </a:solidFill>
              </a:rPr>
              <a:t>multi-formats</a:t>
            </a:r>
            <a:r>
              <a:rPr lang="fr-FR" sz="1800" b="0" noProof="0" dirty="0">
                <a:solidFill>
                  <a:srgbClr val="202124"/>
                </a:solidFill>
              </a:rPr>
              <a:t> </a:t>
            </a:r>
            <a:r>
              <a:rPr lang="fr-FR" sz="1800" b="0" noProof="0" dirty="0" err="1">
                <a:solidFill>
                  <a:srgbClr val="202124"/>
                </a:solidFill>
              </a:rPr>
              <a:t>parsées</a:t>
            </a:r>
            <a:r>
              <a:rPr lang="fr-FR" sz="1800" b="0" noProof="0" dirty="0">
                <a:solidFill>
                  <a:srgbClr val="202124"/>
                </a:solidFill>
              </a:rPr>
              <a:t> et encodages harmonisés.</a:t>
            </a:r>
          </a:p>
          <a:p>
            <a:pPr algn="l">
              <a:defRPr sz="1800" b="0">
                <a:solidFill>
                  <a:srgbClr val="202124"/>
                </a:solidFill>
              </a:defRPr>
            </a:pPr>
            <a:r>
              <a:rPr lang="fr-FR" sz="1800" b="0" noProof="0" dirty="0">
                <a:solidFill>
                  <a:srgbClr val="202124"/>
                </a:solidFill>
              </a:rPr>
              <a:t>• </a:t>
            </a:r>
            <a:r>
              <a:rPr lang="fr-FR" sz="1800" b="0" noProof="0" dirty="0" err="1">
                <a:solidFill>
                  <a:srgbClr val="202124"/>
                </a:solidFill>
              </a:rPr>
              <a:t>Feature</a:t>
            </a:r>
            <a:r>
              <a:rPr lang="fr-FR" sz="1800" b="0" noProof="0" dirty="0">
                <a:solidFill>
                  <a:srgbClr val="202124"/>
                </a:solidFill>
              </a:rPr>
              <a:t> engineering mi-S1 : rendus, LMS, ancienneté, commentaire.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EE74F6D-7426-45B8-A174-34DD4C75ADDC}"/>
              </a:ext>
            </a:extLst>
          </p:cNvPr>
          <p:cNvSpPr>
            <a:spLocks noGrp="1"/>
          </p:cNvSpPr>
          <p:nvPr/>
        </p:nvSpPr>
        <p:spPr>
          <a:xfrm>
            <a:off x="7239000" y="2266950"/>
            <a:ext cx="3581400" cy="21907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EC4485-2F74-4B7C-9AB2-71566D7F7C13}"/>
              </a:ext>
            </a:extLst>
          </p:cNvPr>
          <p:cNvSpPr>
            <a:spLocks noGrp="1"/>
          </p:cNvSpPr>
          <p:nvPr/>
        </p:nvSpPr>
        <p:spPr>
          <a:xfrm>
            <a:off x="7543800" y="2571750"/>
            <a:ext cx="2857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000000"/>
                </a:solidFill>
              </a:defRPr>
            </a:pPr>
            <a:r>
              <a:rPr lang="fr-FR" sz="2550" b="1" noProof="0" dirty="0">
                <a:solidFill>
                  <a:srgbClr val="000000"/>
                </a:solidFill>
              </a:rPr>
              <a:t>Pipeline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4239152-343E-43F8-A0A4-EF7D9825B184}"/>
              </a:ext>
            </a:extLst>
          </p:cNvPr>
          <p:cNvSpPr>
            <a:spLocks noGrp="1"/>
          </p:cNvSpPr>
          <p:nvPr/>
        </p:nvSpPr>
        <p:spPr>
          <a:xfrm>
            <a:off x="7543800" y="3238500"/>
            <a:ext cx="26670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FF6B35"/>
                </a:solidFill>
              </a:defRPr>
            </a:pPr>
            <a:r>
              <a:rPr lang="fr-FR" sz="2250" b="1" noProof="0" dirty="0">
                <a:solidFill>
                  <a:srgbClr val="FF6B35"/>
                </a:solidFill>
              </a:rPr>
              <a:t>imputation</a:t>
            </a:r>
          </a:p>
          <a:p>
            <a:pPr algn="l">
              <a:defRPr sz="2250" b="1">
                <a:solidFill>
                  <a:srgbClr val="FF6B35"/>
                </a:solidFill>
              </a:defRPr>
            </a:pPr>
            <a:r>
              <a:rPr lang="fr-FR" sz="2250" b="1" noProof="0" dirty="0">
                <a:solidFill>
                  <a:srgbClr val="FF6B35"/>
                </a:solidFill>
              </a:rPr>
              <a:t>encodage</a:t>
            </a:r>
          </a:p>
          <a:p>
            <a:pPr algn="l">
              <a:defRPr sz="2250" b="1">
                <a:solidFill>
                  <a:srgbClr val="FF6B35"/>
                </a:solidFill>
              </a:defRPr>
            </a:pPr>
            <a:r>
              <a:rPr lang="fr-FR" sz="2250" b="1" noProof="0" dirty="0">
                <a:solidFill>
                  <a:srgbClr val="FF6B35"/>
                </a:solidFill>
              </a:rPr>
              <a:t>fit train seul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524A3B-9EB5-4269-A0E0-D3D991160343}"/>
              </a:ext>
            </a:extLst>
          </p:cNvPr>
          <p:cNvSpPr>
            <a:spLocks noGrp="1"/>
          </p:cNvSpPr>
          <p:nvPr/>
        </p:nvSpPr>
        <p:spPr>
          <a:xfrm>
            <a:off x="742950" y="5257800"/>
            <a:ext cx="9810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000000"/>
                </a:solidFill>
              </a:defRPr>
            </a:pPr>
            <a:r>
              <a:rPr lang="fr-FR" sz="2025" b="1" noProof="0" dirty="0" err="1">
                <a:solidFill>
                  <a:srgbClr val="000000"/>
                </a:solidFill>
              </a:rPr>
              <a:t>Anti-fuite</a:t>
            </a:r>
            <a:r>
              <a:rPr lang="fr-FR" sz="2025" b="1" noProof="0" dirty="0">
                <a:solidFill>
                  <a:srgbClr val="000000"/>
                </a:solidFill>
              </a:rPr>
              <a:t> : aucune statistique du test n'est utilisée pour entraîner les transformations.</a:t>
            </a:r>
          </a:p>
        </p:txBody>
      </p:sp>
    </p:spTree>
    <p:extLst>
      <p:ext uri="{BB962C8B-B14F-4D97-AF65-F5344CB8AC3E}">
        <p14:creationId xmlns:p14="http://schemas.microsoft.com/office/powerpoint/2010/main" val="9937565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1B851F4-A4F1-45AC-8CBA-60EBD9049C4D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555555"/>
                </a:solidFill>
              </a:defRPr>
            </a:pPr>
            <a:r>
              <a:rPr lang="fr-FR" sz="1125" b="1" noProof="0" dirty="0">
                <a:solidFill>
                  <a:srgbClr val="555555"/>
                </a:solidFill>
              </a:rPr>
              <a:t>C3 · EDA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047A5D-70F3-4E92-AAB2-C9735B24BE94}"/>
              </a:ext>
            </a:extLst>
          </p:cNvPr>
          <p:cNvSpPr>
            <a:spLocks noGrp="1"/>
          </p:cNvSpPr>
          <p:nvPr/>
        </p:nvSpPr>
        <p:spPr>
          <a:xfrm>
            <a:off x="400050" y="819150"/>
            <a:ext cx="8572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00000"/>
                </a:solidFill>
              </a:defRPr>
            </a:pPr>
            <a:r>
              <a:rPr lang="fr-FR" sz="3000" b="1" noProof="0" dirty="0">
                <a:solidFill>
                  <a:srgbClr val="000000"/>
                </a:solidFill>
              </a:rPr>
              <a:t>Les signaux d'engagement séparent les décrocheurs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020D934-90EE-47B3-97A0-47D8CC44F21B}"/>
              </a:ext>
            </a:extLst>
          </p:cNvPr>
          <p:cNvSpPr>
            <a:spLocks noGrp="1"/>
          </p:cNvSpPr>
          <p:nvPr/>
        </p:nvSpPr>
        <p:spPr>
          <a:xfrm>
            <a:off x="400050" y="1752600"/>
            <a:ext cx="1139190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610AC7-6D47-40AB-B7CD-50E755A5718D}"/>
              </a:ext>
            </a:extLst>
          </p:cNvPr>
          <p:cNvSpPr>
            <a:spLocks noGrp="1"/>
          </p:cNvSpPr>
          <p:nvPr/>
        </p:nvSpPr>
        <p:spPr>
          <a:xfrm>
            <a:off x="400050" y="6362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lang="fr-FR" sz="975" b="0" noProof="0" dirty="0">
                <a:solidFill>
                  <a:srgbClr val="555555"/>
                </a:solidFill>
              </a:rPr>
              <a:t>Soutenance IA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E9E0BB-6ECC-425A-84CF-1E070A5A3E7B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55555"/>
                </a:solidFill>
              </a:defRPr>
            </a:pPr>
            <a:r>
              <a:rPr lang="fr-FR" sz="1050" b="0" noProof="0" dirty="0">
                <a:solidFill>
                  <a:srgbClr val="555555"/>
                </a:solidFill>
              </a:rPr>
              <a:t>08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E99D73-8CC5-4FBA-BF8B-CB95A11A19DA}"/>
              </a:ext>
            </a:extLst>
          </p:cNvPr>
          <p:cNvSpPr>
            <a:spLocks noGrp="1"/>
          </p:cNvSpPr>
          <p:nvPr/>
        </p:nvSpPr>
        <p:spPr>
          <a:xfrm>
            <a:off x="571500" y="2114550"/>
            <a:ext cx="6762750" cy="39052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pic>
        <p:nvPicPr>
          <p:cNvPr id="15" name="Image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6750" y="2443544"/>
            <a:ext cx="6572250" cy="324726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D10F8C6-6850-4721-9FDB-A90B400A09FE}"/>
              </a:ext>
            </a:extLst>
          </p:cNvPr>
          <p:cNvSpPr>
            <a:spLocks noGrp="1"/>
          </p:cNvSpPr>
          <p:nvPr/>
        </p:nvSpPr>
        <p:spPr>
          <a:xfrm>
            <a:off x="7810500" y="2381250"/>
            <a:ext cx="3429000" cy="2857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202124"/>
                </a:solidFill>
              </a:defRPr>
            </a:pPr>
            <a:r>
              <a:rPr lang="fr-FR" sz="1800" b="0" noProof="0" dirty="0">
                <a:solidFill>
                  <a:srgbClr val="202124"/>
                </a:solidFill>
              </a:rPr>
              <a:t>• Présence, LMS et rendus portent le signal utile.</a:t>
            </a:r>
          </a:p>
          <a:p>
            <a:pPr algn="l">
              <a:defRPr sz="1800" b="0">
                <a:solidFill>
                  <a:srgbClr val="202124"/>
                </a:solidFill>
              </a:defRPr>
            </a:pPr>
            <a:r>
              <a:rPr lang="fr-FR" sz="1800" b="0" noProof="0" dirty="0">
                <a:solidFill>
                  <a:srgbClr val="202124"/>
                </a:solidFill>
              </a:rPr>
              <a:t>• Les leurres restent plats entre modalités.</a:t>
            </a:r>
          </a:p>
        </p:txBody>
      </p:sp>
    </p:spTree>
    <p:extLst>
      <p:ext uri="{BB962C8B-B14F-4D97-AF65-F5344CB8AC3E}">
        <p14:creationId xmlns:p14="http://schemas.microsoft.com/office/powerpoint/2010/main" val="14869971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C4EE9C6-FD1A-40A6-88E8-CB79DE2FCA70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555555"/>
                </a:solidFill>
              </a:defRPr>
            </a:pPr>
            <a:r>
              <a:rPr lang="fr-FR" sz="1125" b="1" noProof="0" dirty="0">
                <a:solidFill>
                  <a:srgbClr val="555555"/>
                </a:solidFill>
              </a:rPr>
              <a:t>C4 · Choix du modèle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A868BE5-1DA2-4387-8728-EB6E50382DAB}"/>
              </a:ext>
            </a:extLst>
          </p:cNvPr>
          <p:cNvSpPr>
            <a:spLocks noGrp="1"/>
          </p:cNvSpPr>
          <p:nvPr/>
        </p:nvSpPr>
        <p:spPr>
          <a:xfrm>
            <a:off x="400050" y="819150"/>
            <a:ext cx="113919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00000"/>
                </a:solidFill>
              </a:defRPr>
            </a:pPr>
            <a:r>
              <a:rPr lang="fr-FR" sz="3000" b="1" noProof="0" dirty="0">
                <a:solidFill>
                  <a:srgbClr val="000000"/>
                </a:solidFill>
              </a:rPr>
              <a:t>À performance comparable, le modèle le plus explicable est retenu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AC9AE9-D156-4881-BE1B-3052900434AF}"/>
              </a:ext>
            </a:extLst>
          </p:cNvPr>
          <p:cNvSpPr>
            <a:spLocks noGrp="1"/>
          </p:cNvSpPr>
          <p:nvPr/>
        </p:nvSpPr>
        <p:spPr>
          <a:xfrm>
            <a:off x="400050" y="1752600"/>
            <a:ext cx="1139190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851C179-9BC2-4D40-84D1-17078AF7EB44}"/>
              </a:ext>
            </a:extLst>
          </p:cNvPr>
          <p:cNvSpPr>
            <a:spLocks noGrp="1"/>
          </p:cNvSpPr>
          <p:nvPr/>
        </p:nvSpPr>
        <p:spPr>
          <a:xfrm>
            <a:off x="400050" y="6362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lang="fr-FR" sz="975" b="0" noProof="0" dirty="0">
                <a:solidFill>
                  <a:srgbClr val="555555"/>
                </a:solidFill>
              </a:rPr>
              <a:t>Soutenance IA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AACE35-BD84-449C-8D64-F25A76525EA3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55555"/>
                </a:solidFill>
              </a:defRPr>
            </a:pPr>
            <a:r>
              <a:rPr lang="fr-FR" sz="1050" b="0" noProof="0" dirty="0">
                <a:solidFill>
                  <a:srgbClr val="555555"/>
                </a:solidFill>
              </a:rPr>
              <a:t>09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7EC5040-E7B4-459A-B412-70FF8ED6E4D9}"/>
              </a:ext>
            </a:extLst>
          </p:cNvPr>
          <p:cNvSpPr>
            <a:spLocks noGrp="1"/>
          </p:cNvSpPr>
          <p:nvPr/>
        </p:nvSpPr>
        <p:spPr>
          <a:xfrm>
            <a:off x="571500" y="2114550"/>
            <a:ext cx="6762750" cy="39052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pic>
        <p:nvPicPr>
          <p:cNvPr id="15" name="Image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777258" y="2209800"/>
            <a:ext cx="4351234" cy="371475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5AAD48A-CCE1-4CFB-A1A4-8B2BA800D66C}"/>
              </a:ext>
            </a:extLst>
          </p:cNvPr>
          <p:cNvSpPr>
            <a:spLocks noGrp="1"/>
          </p:cNvSpPr>
          <p:nvPr/>
        </p:nvSpPr>
        <p:spPr>
          <a:xfrm>
            <a:off x="7810500" y="2381250"/>
            <a:ext cx="3429000" cy="2857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202124"/>
                </a:solidFill>
              </a:defRPr>
            </a:pPr>
            <a:r>
              <a:rPr lang="fr-FR" sz="1800" b="0" noProof="0" dirty="0">
                <a:solidFill>
                  <a:srgbClr val="202124"/>
                </a:solidFill>
              </a:rPr>
              <a:t>• AUC adaptée au déséquilibre et indépendante du seuil.</a:t>
            </a:r>
          </a:p>
          <a:p>
            <a:pPr algn="l">
              <a:defRPr sz="1800" b="0">
                <a:solidFill>
                  <a:srgbClr val="202124"/>
                </a:solidFill>
              </a:defRPr>
            </a:pPr>
            <a:r>
              <a:rPr lang="fr-FR" sz="1800" b="0" noProof="0" dirty="0">
                <a:solidFill>
                  <a:srgbClr val="202124"/>
                </a:solidFill>
              </a:rPr>
              <a:t>• Régression logistique retenue : sobre et lisible.</a:t>
            </a:r>
          </a:p>
        </p:txBody>
      </p:sp>
    </p:spTree>
    <p:extLst>
      <p:ext uri="{BB962C8B-B14F-4D97-AF65-F5344CB8AC3E}">
        <p14:creationId xmlns:p14="http://schemas.microsoft.com/office/powerpoint/2010/main" val="16366353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6338EEA-115E-4867-8CAA-05E13A5F6F28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555555"/>
                </a:solidFill>
              </a:defRPr>
            </a:pPr>
            <a:r>
              <a:rPr lang="fr-FR" sz="1125" b="1" noProof="0" dirty="0">
                <a:solidFill>
                  <a:srgbClr val="555555"/>
                </a:solidFill>
              </a:rPr>
              <a:t>C5 · Entraînement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96F49BE-778E-4027-9BBF-E4AA380DA6FB}"/>
              </a:ext>
            </a:extLst>
          </p:cNvPr>
          <p:cNvSpPr>
            <a:spLocks noGrp="1"/>
          </p:cNvSpPr>
          <p:nvPr/>
        </p:nvSpPr>
        <p:spPr>
          <a:xfrm>
            <a:off x="400050" y="819150"/>
            <a:ext cx="113919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00000"/>
                </a:solidFill>
              </a:defRPr>
            </a:pPr>
            <a:r>
              <a:rPr lang="fr-FR" sz="3000" b="1" noProof="0" dirty="0">
                <a:solidFill>
                  <a:srgbClr val="000000"/>
                </a:solidFill>
              </a:rPr>
              <a:t>La validation compare les modèles sans surapprentissage apparent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7D3C7F-F557-49D4-8455-07145EC897B8}"/>
              </a:ext>
            </a:extLst>
          </p:cNvPr>
          <p:cNvSpPr>
            <a:spLocks noGrp="1"/>
          </p:cNvSpPr>
          <p:nvPr/>
        </p:nvSpPr>
        <p:spPr>
          <a:xfrm>
            <a:off x="400050" y="1752600"/>
            <a:ext cx="1139190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B3FCE7-576E-4159-8D24-4A0536C6AF46}"/>
              </a:ext>
            </a:extLst>
          </p:cNvPr>
          <p:cNvSpPr>
            <a:spLocks noGrp="1"/>
          </p:cNvSpPr>
          <p:nvPr/>
        </p:nvSpPr>
        <p:spPr>
          <a:xfrm>
            <a:off x="400050" y="6362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lang="fr-FR" sz="975" b="0" noProof="0" dirty="0">
                <a:solidFill>
                  <a:srgbClr val="555555"/>
                </a:solidFill>
              </a:rPr>
              <a:t>Soutenance IA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1F5164-4137-4215-8E82-114407363EBC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55555"/>
                </a:solidFill>
              </a:defRPr>
            </a:pPr>
            <a:r>
              <a:rPr lang="fr-FR" sz="1050" b="0" noProof="0" dirty="0">
                <a:solidFill>
                  <a:srgbClr val="555555"/>
                </a:solidFill>
              </a:rPr>
              <a:t>10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DAC5E6-62B5-44A1-83D4-0C31D87E777B}"/>
              </a:ext>
            </a:extLst>
          </p:cNvPr>
          <p:cNvSpPr>
            <a:spLocks noGrp="1"/>
          </p:cNvSpPr>
          <p:nvPr/>
        </p:nvSpPr>
        <p:spPr>
          <a:xfrm>
            <a:off x="742950" y="2362200"/>
            <a:ext cx="666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FF6B35"/>
                </a:solidFill>
              </a:defRPr>
            </a:pPr>
            <a:r>
              <a:rPr lang="fr-FR" sz="1800" b="1" noProof="0" dirty="0">
                <a:solidFill>
                  <a:srgbClr val="FF6B35"/>
                </a:solidFill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DB0BD7-2B91-49D4-802D-64815EC0D465}"/>
              </a:ext>
            </a:extLst>
          </p:cNvPr>
          <p:cNvSpPr>
            <a:spLocks noGrp="1"/>
          </p:cNvSpPr>
          <p:nvPr/>
        </p:nvSpPr>
        <p:spPr>
          <a:xfrm>
            <a:off x="742950" y="2914650"/>
            <a:ext cx="2247900" cy="1714500"/>
          </a:xfrm>
          <a:prstGeom prst="rect">
            <a:avLst/>
          </a:prstGeom>
          <a:solidFill>
            <a:srgbClr val="F5F5F5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304F15-B2FA-4B4A-82FB-21912C26FBFC}"/>
              </a:ext>
            </a:extLst>
          </p:cNvPr>
          <p:cNvSpPr>
            <a:spLocks noGrp="1"/>
          </p:cNvSpPr>
          <p:nvPr/>
        </p:nvSpPr>
        <p:spPr>
          <a:xfrm>
            <a:off x="952500" y="3181350"/>
            <a:ext cx="1809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lang="fr-FR" sz="2100" b="1" noProof="0" dirty="0">
                <a:solidFill>
                  <a:srgbClr val="000000"/>
                </a:solidFill>
              </a:rPr>
              <a:t>Split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6C96B3-1593-43A6-BB88-9EBF1B7E1270}"/>
              </a:ext>
            </a:extLst>
          </p:cNvPr>
          <p:cNvSpPr>
            <a:spLocks noGrp="1"/>
          </p:cNvSpPr>
          <p:nvPr/>
        </p:nvSpPr>
        <p:spPr>
          <a:xfrm>
            <a:off x="952500" y="3752850"/>
            <a:ext cx="1809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0">
                <a:solidFill>
                  <a:srgbClr val="202124"/>
                </a:solidFill>
              </a:defRPr>
            </a:pPr>
            <a:r>
              <a:rPr lang="fr-FR" sz="1725" b="0" noProof="0" dirty="0">
                <a:solidFill>
                  <a:srgbClr val="202124"/>
                </a:solidFill>
              </a:rPr>
              <a:t>stratifié train/test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D48902-FF57-4119-80D6-6675C542C494}"/>
              </a:ext>
            </a:extLst>
          </p:cNvPr>
          <p:cNvSpPr>
            <a:spLocks noGrp="1"/>
          </p:cNvSpPr>
          <p:nvPr/>
        </p:nvSpPr>
        <p:spPr>
          <a:xfrm>
            <a:off x="3505200" y="2362200"/>
            <a:ext cx="666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FF6B35"/>
                </a:solidFill>
              </a:defRPr>
            </a:pPr>
            <a:r>
              <a:rPr lang="fr-FR" sz="1800" b="1" noProof="0" dirty="0">
                <a:solidFill>
                  <a:srgbClr val="FF6B35"/>
                </a:solidFill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CA24F7-ED36-43B5-B941-522646C44261}"/>
              </a:ext>
            </a:extLst>
          </p:cNvPr>
          <p:cNvSpPr>
            <a:spLocks noGrp="1"/>
          </p:cNvSpPr>
          <p:nvPr/>
        </p:nvSpPr>
        <p:spPr>
          <a:xfrm>
            <a:off x="3505200" y="2914650"/>
            <a:ext cx="2247900" cy="1714500"/>
          </a:xfrm>
          <a:prstGeom prst="rect">
            <a:avLst/>
          </a:prstGeom>
          <a:solidFill>
            <a:srgbClr val="F5F5F5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0E4E95-786D-4D25-8E18-2F889EC86076}"/>
              </a:ext>
            </a:extLst>
          </p:cNvPr>
          <p:cNvSpPr>
            <a:spLocks noGrp="1"/>
          </p:cNvSpPr>
          <p:nvPr/>
        </p:nvSpPr>
        <p:spPr>
          <a:xfrm>
            <a:off x="3714750" y="3181350"/>
            <a:ext cx="1809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lang="fr-FR" sz="2100" b="1" noProof="0" dirty="0">
                <a:solidFill>
                  <a:srgbClr val="000000"/>
                </a:solidFill>
              </a:rPr>
              <a:t>Tuning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8E8348B-E3CE-4F2C-8C93-8921C0E6D4C1}"/>
              </a:ext>
            </a:extLst>
          </p:cNvPr>
          <p:cNvSpPr>
            <a:spLocks noGrp="1"/>
          </p:cNvSpPr>
          <p:nvPr/>
        </p:nvSpPr>
        <p:spPr>
          <a:xfrm>
            <a:off x="3714750" y="3752850"/>
            <a:ext cx="1809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0">
                <a:solidFill>
                  <a:srgbClr val="202124"/>
                </a:solidFill>
              </a:defRPr>
            </a:pPr>
            <a:r>
              <a:rPr lang="fr-FR" sz="1725" b="0" noProof="0" dirty="0">
                <a:solidFill>
                  <a:srgbClr val="202124"/>
                </a:solidFill>
              </a:rPr>
              <a:t>C par validation croisée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9CD832-716F-473D-80D7-95A79A778929}"/>
              </a:ext>
            </a:extLst>
          </p:cNvPr>
          <p:cNvSpPr>
            <a:spLocks noGrp="1"/>
          </p:cNvSpPr>
          <p:nvPr/>
        </p:nvSpPr>
        <p:spPr>
          <a:xfrm>
            <a:off x="6267450" y="2362200"/>
            <a:ext cx="666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FF6B35"/>
                </a:solidFill>
              </a:defRPr>
            </a:pPr>
            <a:r>
              <a:rPr lang="fr-FR" sz="1800" b="1" noProof="0" dirty="0">
                <a:solidFill>
                  <a:srgbClr val="FF6B35"/>
                </a:solidFill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EAA486-6E53-41D6-96FF-F213152DA2C3}"/>
              </a:ext>
            </a:extLst>
          </p:cNvPr>
          <p:cNvSpPr>
            <a:spLocks noGrp="1"/>
          </p:cNvSpPr>
          <p:nvPr/>
        </p:nvSpPr>
        <p:spPr>
          <a:xfrm>
            <a:off x="6267450" y="2914650"/>
            <a:ext cx="2247900" cy="1714500"/>
          </a:xfrm>
          <a:prstGeom prst="rect">
            <a:avLst/>
          </a:prstGeom>
          <a:solidFill>
            <a:srgbClr val="F5F5F5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993A706-70DB-4C8A-8FD9-923589B555E0}"/>
              </a:ext>
            </a:extLst>
          </p:cNvPr>
          <p:cNvSpPr>
            <a:spLocks noGrp="1"/>
          </p:cNvSpPr>
          <p:nvPr/>
        </p:nvSpPr>
        <p:spPr>
          <a:xfrm>
            <a:off x="6477000" y="3181350"/>
            <a:ext cx="1809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lang="fr-FR" sz="2100" b="1" noProof="0" dirty="0">
                <a:solidFill>
                  <a:srgbClr val="000000"/>
                </a:solidFill>
              </a:rPr>
              <a:t>Déséquilibre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918AB2-8558-44E8-A86F-0E18BB6EF711}"/>
              </a:ext>
            </a:extLst>
          </p:cNvPr>
          <p:cNvSpPr>
            <a:spLocks noGrp="1"/>
          </p:cNvSpPr>
          <p:nvPr/>
        </p:nvSpPr>
        <p:spPr>
          <a:xfrm>
            <a:off x="6477000" y="3752850"/>
            <a:ext cx="1809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0">
                <a:solidFill>
                  <a:srgbClr val="202124"/>
                </a:solidFill>
              </a:defRPr>
            </a:pPr>
            <a:r>
              <a:rPr lang="fr-FR" sz="1725" b="0" noProof="0" dirty="0" err="1">
                <a:solidFill>
                  <a:srgbClr val="202124"/>
                </a:solidFill>
              </a:rPr>
              <a:t>class_weight</a:t>
            </a:r>
            <a:r>
              <a:rPr lang="fr-FR" sz="1725" b="0" noProof="0" dirty="0">
                <a:solidFill>
                  <a:srgbClr val="202124"/>
                </a:solidFill>
              </a:rPr>
              <a:t> </a:t>
            </a:r>
            <a:r>
              <a:rPr lang="fr-FR" sz="1725" b="0" noProof="0" dirty="0" err="1">
                <a:solidFill>
                  <a:srgbClr val="202124"/>
                </a:solidFill>
              </a:rPr>
              <a:t>balanced</a:t>
            </a:r>
            <a:endParaRPr lang="fr-FR" sz="1725" b="0" noProof="0" dirty="0">
              <a:solidFill>
                <a:srgbClr val="202124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A28D36-5E8C-4A14-A080-92576FE48217}"/>
              </a:ext>
            </a:extLst>
          </p:cNvPr>
          <p:cNvSpPr>
            <a:spLocks noGrp="1"/>
          </p:cNvSpPr>
          <p:nvPr/>
        </p:nvSpPr>
        <p:spPr>
          <a:xfrm>
            <a:off x="9029700" y="2362200"/>
            <a:ext cx="666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FF6B35"/>
                </a:solidFill>
              </a:defRPr>
            </a:pPr>
            <a:r>
              <a:rPr lang="fr-FR" sz="1800" b="1" noProof="0" dirty="0">
                <a:solidFill>
                  <a:srgbClr val="FF6B35"/>
                </a:solidFill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F9A88EE-FAF4-41AE-A570-E1E497A234D1}"/>
              </a:ext>
            </a:extLst>
          </p:cNvPr>
          <p:cNvSpPr>
            <a:spLocks noGrp="1"/>
          </p:cNvSpPr>
          <p:nvPr/>
        </p:nvSpPr>
        <p:spPr>
          <a:xfrm>
            <a:off x="9029700" y="2914650"/>
            <a:ext cx="2247900" cy="1714500"/>
          </a:xfrm>
          <a:prstGeom prst="rect">
            <a:avLst/>
          </a:prstGeom>
          <a:solidFill>
            <a:srgbClr val="F5F5F5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C482B55-2568-4677-81E8-D360DA307024}"/>
              </a:ext>
            </a:extLst>
          </p:cNvPr>
          <p:cNvSpPr>
            <a:spLocks noGrp="1"/>
          </p:cNvSpPr>
          <p:nvPr/>
        </p:nvSpPr>
        <p:spPr>
          <a:xfrm>
            <a:off x="9239250" y="3181350"/>
            <a:ext cx="1809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lang="fr-FR" sz="2100" b="1" noProof="0" dirty="0">
                <a:solidFill>
                  <a:srgbClr val="000000"/>
                </a:solidFill>
              </a:rPr>
              <a:t>Robustesse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6E24140-EA79-48F3-9607-0160265F1298}"/>
              </a:ext>
            </a:extLst>
          </p:cNvPr>
          <p:cNvSpPr>
            <a:spLocks noGrp="1"/>
          </p:cNvSpPr>
          <p:nvPr/>
        </p:nvSpPr>
        <p:spPr>
          <a:xfrm>
            <a:off x="9239250" y="3752850"/>
            <a:ext cx="1809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0">
                <a:solidFill>
                  <a:srgbClr val="202124"/>
                </a:solidFill>
              </a:defRPr>
            </a:pPr>
            <a:r>
              <a:rPr lang="fr-FR" sz="1725" b="0" noProof="0" dirty="0">
                <a:solidFill>
                  <a:srgbClr val="202124"/>
                </a:solidFill>
              </a:rPr>
              <a:t>AUC CV ≈ AUC test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B710124-75F7-4C49-9FDD-D47B4445342B}"/>
              </a:ext>
            </a:extLst>
          </p:cNvPr>
          <p:cNvSpPr>
            <a:spLocks noGrp="1"/>
          </p:cNvSpPr>
          <p:nvPr/>
        </p:nvSpPr>
        <p:spPr>
          <a:xfrm>
            <a:off x="742950" y="5257800"/>
            <a:ext cx="9525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00000"/>
                </a:solidFill>
              </a:defRPr>
            </a:pPr>
            <a:r>
              <a:rPr lang="fr-FR" sz="2100" b="1" noProof="0" dirty="0">
                <a:solidFill>
                  <a:srgbClr val="000000"/>
                </a:solidFill>
              </a:rPr>
              <a:t>Objectif : mesurer la généralisation, pas maximiser une métrique fragile.</a:t>
            </a:r>
          </a:p>
        </p:txBody>
      </p:sp>
    </p:spTree>
    <p:extLst>
      <p:ext uri="{BB962C8B-B14F-4D97-AF65-F5344CB8AC3E}">
        <p14:creationId xmlns:p14="http://schemas.microsoft.com/office/powerpoint/2010/main" val="4079921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B739FEB-ED09-4A56-BE64-E9210B73C387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555555"/>
                </a:solidFill>
              </a:defRPr>
            </a:pPr>
            <a:r>
              <a:rPr lang="fr-FR" sz="1125" b="1" noProof="0" dirty="0">
                <a:solidFill>
                  <a:srgbClr val="555555"/>
                </a:solidFill>
              </a:rPr>
              <a:t>C5 / C8 · Seuil métier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49DC30-C19D-49F6-8133-9D401AC7540E}"/>
              </a:ext>
            </a:extLst>
          </p:cNvPr>
          <p:cNvSpPr>
            <a:spLocks noGrp="1"/>
          </p:cNvSpPr>
          <p:nvPr/>
        </p:nvSpPr>
        <p:spPr>
          <a:xfrm>
            <a:off x="400050" y="819150"/>
            <a:ext cx="8572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00000"/>
                </a:solidFill>
              </a:defRPr>
            </a:pPr>
            <a:r>
              <a:rPr lang="fr-FR" sz="3000" b="1" noProof="0" dirty="0">
                <a:solidFill>
                  <a:srgbClr val="000000"/>
                </a:solidFill>
              </a:rPr>
              <a:t>Le seuil est choisi selon le coût d'une erreur métier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403A55-2D20-43E4-AF41-EFE4B4BC6E04}"/>
              </a:ext>
            </a:extLst>
          </p:cNvPr>
          <p:cNvSpPr>
            <a:spLocks noGrp="1"/>
          </p:cNvSpPr>
          <p:nvPr/>
        </p:nvSpPr>
        <p:spPr>
          <a:xfrm>
            <a:off x="400050" y="1752600"/>
            <a:ext cx="1139190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677316-793D-4727-863C-2238E324E8C1}"/>
              </a:ext>
            </a:extLst>
          </p:cNvPr>
          <p:cNvSpPr>
            <a:spLocks noGrp="1"/>
          </p:cNvSpPr>
          <p:nvPr/>
        </p:nvSpPr>
        <p:spPr>
          <a:xfrm>
            <a:off x="400050" y="6362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lang="fr-FR" sz="975" b="0" noProof="0" dirty="0">
                <a:solidFill>
                  <a:srgbClr val="555555"/>
                </a:solidFill>
              </a:rPr>
              <a:t>Soutenance IA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5F6338-3E08-4E6A-A988-9A768199DCDA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55555"/>
                </a:solidFill>
              </a:defRPr>
            </a:pPr>
            <a:r>
              <a:rPr lang="fr-FR" sz="1050" b="0" noProof="0" dirty="0">
                <a:solidFill>
                  <a:srgbClr val="555555"/>
                </a:solidFill>
              </a:rPr>
              <a:t>11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8423ED-18B4-4325-9864-2F8CE02AAEC9}"/>
              </a:ext>
            </a:extLst>
          </p:cNvPr>
          <p:cNvSpPr>
            <a:spLocks noGrp="1"/>
          </p:cNvSpPr>
          <p:nvPr/>
        </p:nvSpPr>
        <p:spPr>
          <a:xfrm>
            <a:off x="571500" y="2114550"/>
            <a:ext cx="6762750" cy="39052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pic>
        <p:nvPicPr>
          <p:cNvPr id="15" name="Image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6750" y="2268596"/>
            <a:ext cx="6572250" cy="359715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67AF449-8E8C-4380-AE75-005C5E5C4282}"/>
              </a:ext>
            </a:extLst>
          </p:cNvPr>
          <p:cNvSpPr>
            <a:spLocks noGrp="1"/>
          </p:cNvSpPr>
          <p:nvPr/>
        </p:nvSpPr>
        <p:spPr>
          <a:xfrm>
            <a:off x="7810500" y="2381250"/>
            <a:ext cx="3429000" cy="2857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202124"/>
                </a:solidFill>
              </a:defRPr>
            </a:pPr>
            <a:r>
              <a:rPr lang="fr-FR" sz="1800" b="0" noProof="0" dirty="0">
                <a:solidFill>
                  <a:srgbClr val="202124"/>
                </a:solidFill>
              </a:rPr>
              <a:t>• Manquer un décrocheur coûte plus cher qu'une fausse alerte.</a:t>
            </a:r>
          </a:p>
          <a:p>
            <a:pPr algn="l">
              <a:defRPr sz="1800" b="0">
                <a:solidFill>
                  <a:srgbClr val="202124"/>
                </a:solidFill>
              </a:defRPr>
            </a:pPr>
            <a:r>
              <a:rPr lang="fr-FR" sz="1800" b="0" noProof="0" dirty="0">
                <a:solidFill>
                  <a:srgbClr val="202124"/>
                </a:solidFill>
              </a:rPr>
              <a:t>• Hypothèse FN:FP = 5:1.</a:t>
            </a:r>
          </a:p>
          <a:p>
            <a:pPr algn="l">
              <a:defRPr sz="1800" b="0">
                <a:solidFill>
                  <a:srgbClr val="202124"/>
                </a:solidFill>
              </a:defRPr>
            </a:pPr>
            <a:r>
              <a:rPr lang="fr-FR" sz="1800" b="0" noProof="0" dirty="0">
                <a:solidFill>
                  <a:srgbClr val="202124"/>
                </a:solidFill>
              </a:rPr>
              <a:t>• Seuil retenu ≈ 0,31.</a:t>
            </a:r>
          </a:p>
        </p:txBody>
      </p:sp>
    </p:spTree>
    <p:extLst>
      <p:ext uri="{BB962C8B-B14F-4D97-AF65-F5344CB8AC3E}">
        <p14:creationId xmlns:p14="http://schemas.microsoft.com/office/powerpoint/2010/main" val="14303565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60493F-EAD8-4A65-9279-B68333FE1049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555555"/>
                </a:solidFill>
              </a:defRPr>
            </a:pPr>
            <a:r>
              <a:rPr lang="fr-FR" sz="1125" b="1" noProof="0" dirty="0">
                <a:solidFill>
                  <a:srgbClr val="555555"/>
                </a:solidFill>
              </a:rPr>
              <a:t>C8 · Performance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C9864E3-7BFA-4E7B-AF43-90F545B42A98}"/>
              </a:ext>
            </a:extLst>
          </p:cNvPr>
          <p:cNvSpPr>
            <a:spLocks noGrp="1"/>
          </p:cNvSpPr>
          <p:nvPr/>
        </p:nvSpPr>
        <p:spPr>
          <a:xfrm>
            <a:off x="400050" y="819150"/>
            <a:ext cx="8572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00000"/>
                </a:solidFill>
              </a:defRPr>
            </a:pPr>
            <a:r>
              <a:rPr lang="fr-FR" sz="3000" b="1" noProof="0" dirty="0">
                <a:solidFill>
                  <a:srgbClr val="000000"/>
                </a:solidFill>
              </a:rPr>
              <a:t>Le seuil métier maximise le rappel des décrocheurs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02BE5A-3528-4309-B4AF-814D19ACF4EB}"/>
              </a:ext>
            </a:extLst>
          </p:cNvPr>
          <p:cNvSpPr>
            <a:spLocks noGrp="1"/>
          </p:cNvSpPr>
          <p:nvPr/>
        </p:nvSpPr>
        <p:spPr>
          <a:xfrm>
            <a:off x="400050" y="1752600"/>
            <a:ext cx="1139190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94617B-1305-4907-9F75-B1688328239D}"/>
              </a:ext>
            </a:extLst>
          </p:cNvPr>
          <p:cNvSpPr>
            <a:spLocks noGrp="1"/>
          </p:cNvSpPr>
          <p:nvPr/>
        </p:nvSpPr>
        <p:spPr>
          <a:xfrm>
            <a:off x="400050" y="6362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lang="fr-FR" sz="975" b="0" noProof="0" dirty="0">
                <a:solidFill>
                  <a:srgbClr val="555555"/>
                </a:solidFill>
              </a:rPr>
              <a:t>Soutenance IA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AD0510-6553-4DD4-B9BF-49C2FDE6D5B4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55555"/>
                </a:solidFill>
              </a:defRPr>
            </a:pPr>
            <a:r>
              <a:rPr lang="fr-FR" sz="1050" b="0" noProof="0" dirty="0">
                <a:solidFill>
                  <a:srgbClr val="555555"/>
                </a:solidFill>
              </a:rPr>
              <a:t>12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704763-BCA8-4DA4-8549-FBA14DA69B42}"/>
              </a:ext>
            </a:extLst>
          </p:cNvPr>
          <p:cNvSpPr>
            <a:spLocks noGrp="1"/>
          </p:cNvSpPr>
          <p:nvPr/>
        </p:nvSpPr>
        <p:spPr>
          <a:xfrm>
            <a:off x="1047750" y="2095500"/>
            <a:ext cx="4762500" cy="39052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pic>
        <p:nvPicPr>
          <p:cNvPr id="15" name="Image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43000" y="2234794"/>
            <a:ext cx="4572000" cy="362666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89A608A-BE8E-4B33-BA69-679F15A6EF3D}"/>
              </a:ext>
            </a:extLst>
          </p:cNvPr>
          <p:cNvSpPr>
            <a:spLocks noGrp="1"/>
          </p:cNvSpPr>
          <p:nvPr/>
        </p:nvSpPr>
        <p:spPr>
          <a:xfrm>
            <a:off x="6858000" y="2476500"/>
            <a:ext cx="400050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202124"/>
                </a:solidFill>
              </a:defRPr>
            </a:pPr>
            <a:r>
              <a:rPr lang="fr-FR" sz="1800" b="0" noProof="0" dirty="0">
                <a:solidFill>
                  <a:srgbClr val="202124"/>
                </a:solidFill>
              </a:rPr>
              <a:t>• AUC test : 0,949.</a:t>
            </a:r>
          </a:p>
          <a:p>
            <a:pPr algn="l">
              <a:defRPr sz="1800" b="0">
                <a:solidFill>
                  <a:srgbClr val="202124"/>
                </a:solidFill>
              </a:defRPr>
            </a:pPr>
            <a:r>
              <a:rPr lang="fr-FR" sz="1800" b="0" noProof="0" dirty="0">
                <a:solidFill>
                  <a:srgbClr val="202124"/>
                </a:solidFill>
              </a:rPr>
              <a:t>• Rappel : 0,96.</a:t>
            </a:r>
          </a:p>
          <a:p>
            <a:pPr algn="l">
              <a:defRPr sz="1800" b="0">
                <a:solidFill>
                  <a:srgbClr val="202124"/>
                </a:solidFill>
              </a:defRPr>
            </a:pPr>
            <a:r>
              <a:rPr lang="fr-FR" sz="1800" b="0" noProof="0" dirty="0">
                <a:solidFill>
                  <a:srgbClr val="202124"/>
                </a:solidFill>
              </a:rPr>
              <a:t>• Précision : 0,64, assumée pour réduire les FN.</a:t>
            </a:r>
          </a:p>
        </p:txBody>
      </p:sp>
    </p:spTree>
    <p:extLst>
      <p:ext uri="{BB962C8B-B14F-4D97-AF65-F5344CB8AC3E}">
        <p14:creationId xmlns:p14="http://schemas.microsoft.com/office/powerpoint/2010/main" val="7120667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E99A9FB-C32C-4D63-A5ED-93A7426FFCAB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555555"/>
                </a:solidFill>
              </a:defRPr>
            </a:pPr>
            <a:r>
              <a:rPr lang="fr-FR" sz="1125" b="1" noProof="0" dirty="0">
                <a:solidFill>
                  <a:srgbClr val="555555"/>
                </a:solidFill>
              </a:rPr>
              <a:t>C8 / C2 · Explicabilité &amp; équité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52E54E-5E7E-45EE-B31C-81D530FF9623}"/>
              </a:ext>
            </a:extLst>
          </p:cNvPr>
          <p:cNvSpPr>
            <a:spLocks noGrp="1"/>
          </p:cNvSpPr>
          <p:nvPr/>
        </p:nvSpPr>
        <p:spPr>
          <a:xfrm>
            <a:off x="400050" y="819150"/>
            <a:ext cx="8572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00000"/>
                </a:solidFill>
              </a:defRPr>
            </a:pPr>
            <a:r>
              <a:rPr lang="fr-FR" sz="3000" b="1" noProof="0" dirty="0">
                <a:solidFill>
                  <a:srgbClr val="000000"/>
                </a:solidFill>
              </a:rPr>
              <a:t>Les facteurs importants sont actionnables et audités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655610-885E-4489-9BF8-A6BD354E88B7}"/>
              </a:ext>
            </a:extLst>
          </p:cNvPr>
          <p:cNvSpPr>
            <a:spLocks noGrp="1"/>
          </p:cNvSpPr>
          <p:nvPr/>
        </p:nvSpPr>
        <p:spPr>
          <a:xfrm>
            <a:off x="400050" y="1752600"/>
            <a:ext cx="1139190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6E210EA-BAEF-4A22-B102-30E500CA4EDE}"/>
              </a:ext>
            </a:extLst>
          </p:cNvPr>
          <p:cNvSpPr>
            <a:spLocks noGrp="1"/>
          </p:cNvSpPr>
          <p:nvPr/>
        </p:nvSpPr>
        <p:spPr>
          <a:xfrm>
            <a:off x="400050" y="6362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lang="fr-FR" sz="975" b="0" noProof="0" dirty="0">
                <a:solidFill>
                  <a:srgbClr val="555555"/>
                </a:solidFill>
              </a:rPr>
              <a:t>Soutenance IA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940F01-8650-4897-B760-A934D3BCAE53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55555"/>
                </a:solidFill>
              </a:defRPr>
            </a:pPr>
            <a:r>
              <a:rPr lang="fr-FR" sz="1050" b="0" noProof="0" dirty="0">
                <a:solidFill>
                  <a:srgbClr val="555555"/>
                </a:solidFill>
              </a:rPr>
              <a:t>13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9BF74-A15F-4AC4-8960-FEBC4C2F1676}"/>
              </a:ext>
            </a:extLst>
          </p:cNvPr>
          <p:cNvSpPr>
            <a:spLocks noGrp="1"/>
          </p:cNvSpPr>
          <p:nvPr/>
        </p:nvSpPr>
        <p:spPr>
          <a:xfrm>
            <a:off x="571500" y="2114550"/>
            <a:ext cx="6762750" cy="39052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pic>
        <p:nvPicPr>
          <p:cNvPr id="15" name="Image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600200" y="2209800"/>
            <a:ext cx="4705350" cy="371475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160850F8-1CAB-48D5-A7B4-9FD19840EE8E}"/>
              </a:ext>
            </a:extLst>
          </p:cNvPr>
          <p:cNvSpPr>
            <a:spLocks noGrp="1"/>
          </p:cNvSpPr>
          <p:nvPr/>
        </p:nvSpPr>
        <p:spPr>
          <a:xfrm>
            <a:off x="7810500" y="2381250"/>
            <a:ext cx="3429000" cy="2857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202124"/>
                </a:solidFill>
              </a:defRPr>
            </a:pPr>
            <a:r>
              <a:rPr lang="fr-FR" sz="1800" b="0" noProof="0" dirty="0">
                <a:solidFill>
                  <a:srgbClr val="202124"/>
                </a:solidFill>
              </a:rPr>
              <a:t>• Présence, LMS, rendus et motivation expliquent le risque.</a:t>
            </a:r>
          </a:p>
          <a:p>
            <a:pPr algn="l">
              <a:defRPr sz="1800" b="0">
                <a:solidFill>
                  <a:srgbClr val="202124"/>
                </a:solidFill>
              </a:defRPr>
            </a:pPr>
            <a:r>
              <a:rPr lang="fr-FR" sz="1800" b="0" noProof="0" dirty="0">
                <a:solidFill>
                  <a:srgbClr val="202124"/>
                </a:solidFill>
              </a:rPr>
              <a:t>• Rappel comparable F/M/boursier : 0,935–0,975.</a:t>
            </a:r>
          </a:p>
        </p:txBody>
      </p:sp>
    </p:spTree>
    <p:extLst>
      <p:ext uri="{BB962C8B-B14F-4D97-AF65-F5344CB8AC3E}">
        <p14:creationId xmlns:p14="http://schemas.microsoft.com/office/powerpoint/2010/main" val="18381448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777260C-0B30-462E-9916-7E21F4CE2C4F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555555"/>
                </a:solidFill>
              </a:defRPr>
            </a:pPr>
            <a:r>
              <a:rPr lang="fr-FR" sz="1125" b="1" noProof="0" dirty="0">
                <a:solidFill>
                  <a:srgbClr val="555555"/>
                </a:solidFill>
              </a:rPr>
              <a:t>C8 · Régression secondaire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C4DA72-8D15-40AD-B5B2-E8BF05140698}"/>
              </a:ext>
            </a:extLst>
          </p:cNvPr>
          <p:cNvSpPr>
            <a:spLocks noGrp="1"/>
          </p:cNvSpPr>
          <p:nvPr/>
        </p:nvSpPr>
        <p:spPr>
          <a:xfrm>
            <a:off x="400050" y="819150"/>
            <a:ext cx="8572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00000"/>
                </a:solidFill>
              </a:defRPr>
            </a:pPr>
            <a:r>
              <a:rPr lang="fr-FR" sz="3000" b="1" noProof="0" dirty="0">
                <a:solidFill>
                  <a:srgbClr val="000000"/>
                </a:solidFill>
              </a:rPr>
              <a:t>La note attendue nuance l'intensité de l'aide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272126-6916-4FBF-8E41-F56ABF1C3C09}"/>
              </a:ext>
            </a:extLst>
          </p:cNvPr>
          <p:cNvSpPr>
            <a:spLocks noGrp="1"/>
          </p:cNvSpPr>
          <p:nvPr/>
        </p:nvSpPr>
        <p:spPr>
          <a:xfrm>
            <a:off x="400050" y="1752600"/>
            <a:ext cx="1139190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2668C2-E994-423B-92D6-DEFAB112798F}"/>
              </a:ext>
            </a:extLst>
          </p:cNvPr>
          <p:cNvSpPr>
            <a:spLocks noGrp="1"/>
          </p:cNvSpPr>
          <p:nvPr/>
        </p:nvSpPr>
        <p:spPr>
          <a:xfrm>
            <a:off x="400050" y="6362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lang="fr-FR" sz="975" b="0" noProof="0" dirty="0">
                <a:solidFill>
                  <a:srgbClr val="555555"/>
                </a:solidFill>
              </a:rPr>
              <a:t>Soutenance IA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FAB8E6-36B2-4E0F-A766-A78A2F68BC51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55555"/>
                </a:solidFill>
              </a:defRPr>
            </a:pPr>
            <a:r>
              <a:rPr lang="fr-FR" sz="1050" b="0" noProof="0" dirty="0">
                <a:solidFill>
                  <a:srgbClr val="555555"/>
                </a:solidFill>
              </a:rPr>
              <a:t>14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487E38-ECCF-4795-A6CA-5ED988FF1151}"/>
              </a:ext>
            </a:extLst>
          </p:cNvPr>
          <p:cNvSpPr>
            <a:spLocks noGrp="1"/>
          </p:cNvSpPr>
          <p:nvPr/>
        </p:nvSpPr>
        <p:spPr>
          <a:xfrm>
            <a:off x="857250" y="2143125"/>
            <a:ext cx="5334000" cy="36195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pic>
        <p:nvPicPr>
          <p:cNvPr id="15" name="Image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09750" y="2238375"/>
            <a:ext cx="3429000" cy="3429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14591CC-58F0-49F2-8DB7-788131A0D1AE}"/>
              </a:ext>
            </a:extLst>
          </p:cNvPr>
          <p:cNvSpPr>
            <a:spLocks noGrp="1"/>
          </p:cNvSpPr>
          <p:nvPr/>
        </p:nvSpPr>
        <p:spPr>
          <a:xfrm>
            <a:off x="7239000" y="2524125"/>
            <a:ext cx="3714750" cy="2190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202124"/>
                </a:solidFill>
              </a:defRPr>
            </a:pPr>
            <a:r>
              <a:rPr lang="fr-FR" sz="1800" b="0" noProof="0" dirty="0">
                <a:solidFill>
                  <a:srgbClr val="202124"/>
                </a:solidFill>
              </a:rPr>
              <a:t>• R² ≈ 0,68.</a:t>
            </a:r>
          </a:p>
          <a:p>
            <a:pPr algn="l">
              <a:defRPr sz="1800" b="0">
                <a:solidFill>
                  <a:srgbClr val="202124"/>
                </a:solidFill>
              </a:defRPr>
            </a:pPr>
            <a:r>
              <a:rPr lang="fr-FR" sz="1800" b="0" noProof="0" dirty="0">
                <a:solidFill>
                  <a:srgbClr val="202124"/>
                </a:solidFill>
              </a:rPr>
              <a:t>• Erreur ≈ 2,3 points sur 20.</a:t>
            </a:r>
          </a:p>
          <a:p>
            <a:pPr algn="l">
              <a:defRPr sz="1800" b="0">
                <a:solidFill>
                  <a:srgbClr val="202124"/>
                </a:solidFill>
              </a:defRPr>
            </a:pPr>
            <a:r>
              <a:rPr lang="fr-FR" sz="1800" b="0" noProof="0" dirty="0">
                <a:solidFill>
                  <a:srgbClr val="202124"/>
                </a:solidFill>
              </a:rPr>
              <a:t>• Jamais utilisée comme </a:t>
            </a:r>
            <a:r>
              <a:rPr lang="fr-FR" sz="1800" b="0" noProof="0" dirty="0" err="1">
                <a:solidFill>
                  <a:srgbClr val="202124"/>
                </a:solidFill>
              </a:rPr>
              <a:t>feature</a:t>
            </a:r>
            <a:r>
              <a:rPr lang="fr-FR" sz="1800" b="0" noProof="0" dirty="0">
                <a:solidFill>
                  <a:srgbClr val="202124"/>
                </a:solidFill>
              </a:rPr>
              <a:t> de classification.</a:t>
            </a:r>
          </a:p>
        </p:txBody>
      </p:sp>
    </p:spTree>
    <p:extLst>
      <p:ext uri="{BB962C8B-B14F-4D97-AF65-F5344CB8AC3E}">
        <p14:creationId xmlns:p14="http://schemas.microsoft.com/office/powerpoint/2010/main" val="14441807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18B7251-AC3C-4123-909C-B809DD256DB6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555555"/>
                </a:solidFill>
              </a:defRPr>
            </a:pPr>
            <a:r>
              <a:rPr lang="fr-FR" sz="1125" b="1" noProof="0" dirty="0">
                <a:solidFill>
                  <a:srgbClr val="555555"/>
                </a:solidFill>
              </a:rPr>
              <a:t>C6 · Implémentation &amp; service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95207E-AFCD-4B36-8223-0102A0CBCE3F}"/>
              </a:ext>
            </a:extLst>
          </p:cNvPr>
          <p:cNvSpPr>
            <a:spLocks noGrp="1"/>
          </p:cNvSpPr>
          <p:nvPr/>
        </p:nvSpPr>
        <p:spPr>
          <a:xfrm>
            <a:off x="400050" y="819150"/>
            <a:ext cx="113919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00000"/>
                </a:solidFill>
              </a:defRPr>
            </a:pPr>
            <a:r>
              <a:rPr lang="fr-FR" sz="3000" b="1" noProof="0" dirty="0">
                <a:solidFill>
                  <a:srgbClr val="000000"/>
                </a:solidFill>
              </a:rPr>
              <a:t>Le notebook devient un service rechargeable et testable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23F0EF-A16C-4887-BA8E-A2DEED4A4E6F}"/>
              </a:ext>
            </a:extLst>
          </p:cNvPr>
          <p:cNvSpPr>
            <a:spLocks noGrp="1"/>
          </p:cNvSpPr>
          <p:nvPr/>
        </p:nvSpPr>
        <p:spPr>
          <a:xfrm>
            <a:off x="400050" y="1752600"/>
            <a:ext cx="1139190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D7FB4E4-CED6-42F1-ABE3-8060EA26DA8F}"/>
              </a:ext>
            </a:extLst>
          </p:cNvPr>
          <p:cNvSpPr>
            <a:spLocks noGrp="1"/>
          </p:cNvSpPr>
          <p:nvPr/>
        </p:nvSpPr>
        <p:spPr>
          <a:xfrm>
            <a:off x="400050" y="6362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lang="fr-FR" sz="975" b="0" noProof="0" dirty="0">
                <a:solidFill>
                  <a:srgbClr val="555555"/>
                </a:solidFill>
              </a:rPr>
              <a:t>Soutenance IA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7BAFF5-417B-4106-B84B-CC87D5BC0DBA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55555"/>
                </a:solidFill>
              </a:defRPr>
            </a:pPr>
            <a:r>
              <a:rPr lang="fr-FR" sz="1050" b="0" noProof="0" dirty="0">
                <a:solidFill>
                  <a:srgbClr val="555555"/>
                </a:solidFill>
              </a:rPr>
              <a:t>15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65A1618-16A4-4FBA-993B-9637B3B616B6}"/>
              </a:ext>
            </a:extLst>
          </p:cNvPr>
          <p:cNvSpPr>
            <a:spLocks noGrp="1"/>
          </p:cNvSpPr>
          <p:nvPr/>
        </p:nvSpPr>
        <p:spPr>
          <a:xfrm>
            <a:off x="857250" y="240030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000000"/>
                </a:solidFill>
              </a:defRPr>
            </a:pPr>
            <a:r>
              <a:rPr lang="fr-FR" sz="2250" b="1" noProof="0" dirty="0">
                <a:solidFill>
                  <a:srgbClr val="000000"/>
                </a:solidFill>
              </a:rPr>
              <a:t>Bundle sérialisé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B3E10B-9DA7-4B80-A34B-B926B779E61C}"/>
              </a:ext>
            </a:extLst>
          </p:cNvPr>
          <p:cNvSpPr>
            <a:spLocks noGrp="1"/>
          </p:cNvSpPr>
          <p:nvPr/>
        </p:nvSpPr>
        <p:spPr>
          <a:xfrm>
            <a:off x="857250" y="2895600"/>
            <a:ext cx="4095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202124"/>
                </a:solidFill>
              </a:defRPr>
            </a:pPr>
            <a:r>
              <a:rPr lang="fr-FR" sz="1800" b="0" noProof="0" dirty="0">
                <a:solidFill>
                  <a:srgbClr val="202124"/>
                </a:solidFill>
              </a:rPr>
              <a:t>Pipeline + </a:t>
            </a:r>
            <a:r>
              <a:rPr lang="fr-FR" sz="1800" b="0" noProof="0" dirty="0" err="1">
                <a:solidFill>
                  <a:srgbClr val="202124"/>
                </a:solidFill>
              </a:rPr>
              <a:t>features</a:t>
            </a:r>
            <a:r>
              <a:rPr lang="fr-FR" sz="1800" b="0" noProof="0" dirty="0">
                <a:solidFill>
                  <a:srgbClr val="202124"/>
                </a:solidFill>
              </a:rPr>
              <a:t> + seuil + catalogue + métadonnées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A7BF38C-58B5-41C7-847E-12B506BF80AA}"/>
              </a:ext>
            </a:extLst>
          </p:cNvPr>
          <p:cNvSpPr>
            <a:spLocks noGrp="1"/>
          </p:cNvSpPr>
          <p:nvPr/>
        </p:nvSpPr>
        <p:spPr>
          <a:xfrm>
            <a:off x="5334000" y="2476500"/>
            <a:ext cx="19050" cy="200025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65DED57-D1AF-4AB8-BB89-F9245B8BFDDD}"/>
              </a:ext>
            </a:extLst>
          </p:cNvPr>
          <p:cNvSpPr>
            <a:spLocks noGrp="1"/>
          </p:cNvSpPr>
          <p:nvPr/>
        </p:nvSpPr>
        <p:spPr>
          <a:xfrm>
            <a:off x="5905500" y="240030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000000"/>
                </a:solidFill>
              </a:defRPr>
            </a:pPr>
            <a:r>
              <a:rPr lang="fr-FR" sz="2250" b="1" noProof="0" dirty="0">
                <a:solidFill>
                  <a:srgbClr val="000000"/>
                </a:solidFill>
              </a:rPr>
              <a:t>Contrat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248EAC-CA4B-48D7-A233-0636B012DDED}"/>
              </a:ext>
            </a:extLst>
          </p:cNvPr>
          <p:cNvSpPr>
            <a:spLocks noGrp="1"/>
          </p:cNvSpPr>
          <p:nvPr/>
        </p:nvSpPr>
        <p:spPr>
          <a:xfrm>
            <a:off x="5905500" y="2895600"/>
            <a:ext cx="409575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75" b="1">
                <a:solidFill>
                  <a:srgbClr val="FF6B35"/>
                </a:solidFill>
              </a:defRPr>
            </a:pPr>
            <a:r>
              <a:rPr lang="fr-FR" sz="2175" b="1" noProof="0" dirty="0" err="1">
                <a:solidFill>
                  <a:srgbClr val="FF6B35"/>
                </a:solidFill>
              </a:rPr>
              <a:t>predict</a:t>
            </a:r>
            <a:r>
              <a:rPr lang="fr-FR" sz="2175" b="1" noProof="0" dirty="0">
                <a:solidFill>
                  <a:srgbClr val="FF6B35"/>
                </a:solidFill>
              </a:rPr>
              <a:t>(</a:t>
            </a:r>
            <a:r>
              <a:rPr lang="fr-FR" sz="2175" b="1" noProof="0" dirty="0" err="1">
                <a:solidFill>
                  <a:srgbClr val="FF6B35"/>
                </a:solidFill>
              </a:rPr>
              <a:t>df_brut</a:t>
            </a:r>
            <a:r>
              <a:rPr lang="fr-FR" sz="2175" b="1" noProof="0" dirty="0">
                <a:solidFill>
                  <a:srgbClr val="FF6B35"/>
                </a:solidFill>
              </a:rPr>
              <a:t>)</a:t>
            </a:r>
          </a:p>
          <a:p>
            <a:pPr algn="l">
              <a:defRPr sz="2175" b="1">
                <a:solidFill>
                  <a:srgbClr val="FF6B35"/>
                </a:solidFill>
              </a:defRPr>
            </a:pPr>
            <a:r>
              <a:rPr lang="fr-FR" sz="2175" b="1" noProof="0" dirty="0">
                <a:solidFill>
                  <a:srgbClr val="FF6B35"/>
                </a:solidFill>
              </a:rPr>
              <a:t>→ </a:t>
            </a:r>
            <a:r>
              <a:rPr lang="fr-FR" sz="2175" b="1" noProof="0" dirty="0" err="1">
                <a:solidFill>
                  <a:srgbClr val="FF6B35"/>
                </a:solidFill>
              </a:rPr>
              <a:t>proba_abandon</a:t>
            </a:r>
            <a:endParaRPr lang="fr-FR" sz="2175" b="1" noProof="0" dirty="0">
              <a:solidFill>
                <a:srgbClr val="FF6B35"/>
              </a:solidFill>
            </a:endParaRPr>
          </a:p>
          <a:p>
            <a:pPr algn="l">
              <a:defRPr sz="2175" b="1">
                <a:solidFill>
                  <a:srgbClr val="FF6B35"/>
                </a:solidFill>
              </a:defRPr>
            </a:pPr>
            <a:r>
              <a:rPr lang="fr-FR" sz="2175" b="1" noProof="0" dirty="0">
                <a:solidFill>
                  <a:srgbClr val="FF6B35"/>
                </a:solidFill>
              </a:rPr>
              <a:t>→ alerte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2F206C-B7AE-46FE-8174-F2683B850A30}"/>
              </a:ext>
            </a:extLst>
          </p:cNvPr>
          <p:cNvSpPr>
            <a:spLocks noGrp="1"/>
          </p:cNvSpPr>
          <p:nvPr/>
        </p:nvSpPr>
        <p:spPr>
          <a:xfrm>
            <a:off x="857250" y="5219700"/>
            <a:ext cx="10382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000000"/>
                </a:solidFill>
              </a:defRPr>
            </a:pPr>
            <a:r>
              <a:rPr lang="fr-FR" sz="2025" b="1" noProof="0" dirty="0">
                <a:solidFill>
                  <a:srgbClr val="000000"/>
                </a:solidFill>
              </a:rPr>
              <a:t>Intégration cible : batch hebdomadaire SI scolarité / LMS vers tableau de bord des référents.</a:t>
            </a:r>
          </a:p>
        </p:txBody>
      </p:sp>
    </p:spTree>
    <p:extLst>
      <p:ext uri="{BB962C8B-B14F-4D97-AF65-F5344CB8AC3E}">
        <p14:creationId xmlns:p14="http://schemas.microsoft.com/office/powerpoint/2010/main" val="1042302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A0A7B58-244A-4A82-8CFF-61F2CE754F83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555555"/>
                </a:solidFill>
              </a:defRPr>
            </a:pPr>
            <a:r>
              <a:rPr lang="fr-FR" sz="1125" b="1" noProof="0" dirty="0">
                <a:solidFill>
                  <a:srgbClr val="555555"/>
                </a:solidFill>
              </a:rPr>
              <a:t>C7 · Architecture cible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EEB0D9-A414-40DB-86A1-FF20600362D7}"/>
              </a:ext>
            </a:extLst>
          </p:cNvPr>
          <p:cNvSpPr>
            <a:spLocks noGrp="1"/>
          </p:cNvSpPr>
          <p:nvPr/>
        </p:nvSpPr>
        <p:spPr>
          <a:xfrm>
            <a:off x="400050" y="819150"/>
            <a:ext cx="8572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00000"/>
                </a:solidFill>
              </a:defRPr>
            </a:pPr>
            <a:r>
              <a:rPr lang="fr-FR" sz="3000" b="1" noProof="0" dirty="0">
                <a:solidFill>
                  <a:srgbClr val="000000"/>
                </a:solidFill>
              </a:rPr>
              <a:t>L'architecture garde la décision humaine au centre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B9A1A0-670C-4998-A145-3ECCF623739F}"/>
              </a:ext>
            </a:extLst>
          </p:cNvPr>
          <p:cNvSpPr>
            <a:spLocks noGrp="1"/>
          </p:cNvSpPr>
          <p:nvPr/>
        </p:nvSpPr>
        <p:spPr>
          <a:xfrm>
            <a:off x="400050" y="1752600"/>
            <a:ext cx="1139190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E1908F-0B2B-4155-8348-90BC185AE054}"/>
              </a:ext>
            </a:extLst>
          </p:cNvPr>
          <p:cNvSpPr>
            <a:spLocks noGrp="1"/>
          </p:cNvSpPr>
          <p:nvPr/>
        </p:nvSpPr>
        <p:spPr>
          <a:xfrm>
            <a:off x="400050" y="6362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lang="fr-FR" sz="975" b="0" noProof="0" dirty="0">
                <a:solidFill>
                  <a:srgbClr val="555555"/>
                </a:solidFill>
              </a:rPr>
              <a:t>Soutenance IA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EC6153-A436-40E1-A2CD-D06EC5B1FA1E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55555"/>
                </a:solidFill>
              </a:defRPr>
            </a:pPr>
            <a:r>
              <a:rPr lang="fr-FR" sz="1050" b="0" noProof="0" dirty="0">
                <a:solidFill>
                  <a:srgbClr val="555555"/>
                </a:solidFill>
              </a:rPr>
              <a:t>16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80AD99-298E-492D-9B9D-5DA83AF6B082}"/>
              </a:ext>
            </a:extLst>
          </p:cNvPr>
          <p:cNvSpPr>
            <a:spLocks noGrp="1"/>
          </p:cNvSpPr>
          <p:nvPr/>
        </p:nvSpPr>
        <p:spPr>
          <a:xfrm>
            <a:off x="666750" y="2857500"/>
            <a:ext cx="1733550" cy="933450"/>
          </a:xfrm>
          <a:prstGeom prst="rect">
            <a:avLst/>
          </a:prstGeom>
          <a:solidFill>
            <a:srgbClr val="F5F5F5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0CCD92E-3DC8-43B3-A363-726EB7D68A50}"/>
              </a:ext>
            </a:extLst>
          </p:cNvPr>
          <p:cNvSpPr>
            <a:spLocks noGrp="1"/>
          </p:cNvSpPr>
          <p:nvPr/>
        </p:nvSpPr>
        <p:spPr>
          <a:xfrm>
            <a:off x="800100" y="3105150"/>
            <a:ext cx="14668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rPr lang="fr-FR" sz="1800" b="1" noProof="0" dirty="0">
                <a:solidFill>
                  <a:srgbClr val="000000"/>
                </a:solidFill>
              </a:rPr>
              <a:t>Ingestion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0E1D53-B6B1-47CE-8214-973A885AAED5}"/>
              </a:ext>
            </a:extLst>
          </p:cNvPr>
          <p:cNvSpPr>
            <a:spLocks noGrp="1"/>
          </p:cNvSpPr>
          <p:nvPr/>
        </p:nvSpPr>
        <p:spPr>
          <a:xfrm>
            <a:off x="2457450" y="3143250"/>
            <a:ext cx="4000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400" b="1">
                <a:solidFill>
                  <a:srgbClr val="555555"/>
                </a:solidFill>
              </a:defRPr>
            </a:pPr>
            <a:r>
              <a:rPr lang="fr-FR" sz="2400" b="1" noProof="0" dirty="0">
                <a:solidFill>
                  <a:srgbClr val="555555"/>
                </a:solidFill>
              </a:rPr>
              <a:t>→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A8893C-A588-4CA6-A420-70F9DC705D62}"/>
              </a:ext>
            </a:extLst>
          </p:cNvPr>
          <p:cNvSpPr>
            <a:spLocks noGrp="1"/>
          </p:cNvSpPr>
          <p:nvPr/>
        </p:nvSpPr>
        <p:spPr>
          <a:xfrm>
            <a:off x="2914650" y="2857500"/>
            <a:ext cx="1733550" cy="933450"/>
          </a:xfrm>
          <a:prstGeom prst="rect">
            <a:avLst/>
          </a:prstGeom>
          <a:solidFill>
            <a:srgbClr val="F5F5F5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1E44DD-8862-4250-8769-D110B8F6246B}"/>
              </a:ext>
            </a:extLst>
          </p:cNvPr>
          <p:cNvSpPr>
            <a:spLocks noGrp="1"/>
          </p:cNvSpPr>
          <p:nvPr/>
        </p:nvSpPr>
        <p:spPr>
          <a:xfrm>
            <a:off x="3048000" y="3105150"/>
            <a:ext cx="14668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rPr lang="fr-FR" sz="1800" b="1" noProof="0" dirty="0">
                <a:solidFill>
                  <a:srgbClr val="000000"/>
                </a:solidFill>
              </a:rPr>
              <a:t>Préparation</a:t>
            </a:r>
          </a:p>
          <a:p>
            <a:pPr algn="ctr">
              <a:defRPr sz="1800" b="1">
                <a:solidFill>
                  <a:srgbClr val="000000"/>
                </a:solidFill>
              </a:defRPr>
            </a:pPr>
            <a:r>
              <a:rPr lang="fr-FR" sz="1800" b="1" noProof="0" dirty="0" err="1">
                <a:solidFill>
                  <a:srgbClr val="000000"/>
                </a:solidFill>
              </a:rPr>
              <a:t>anti-fuite</a:t>
            </a:r>
            <a:endParaRPr lang="fr-FR" sz="1800" b="1" noProof="0" dirty="0">
              <a:solidFill>
                <a:srgbClr val="00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2806989-32AC-4A56-98B2-FF751B980670}"/>
              </a:ext>
            </a:extLst>
          </p:cNvPr>
          <p:cNvSpPr>
            <a:spLocks noGrp="1"/>
          </p:cNvSpPr>
          <p:nvPr/>
        </p:nvSpPr>
        <p:spPr>
          <a:xfrm>
            <a:off x="4705350" y="3143250"/>
            <a:ext cx="4000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400" b="1">
                <a:solidFill>
                  <a:srgbClr val="555555"/>
                </a:solidFill>
              </a:defRPr>
            </a:pPr>
            <a:r>
              <a:rPr lang="fr-FR" sz="2400" b="1" noProof="0" dirty="0">
                <a:solidFill>
                  <a:srgbClr val="555555"/>
                </a:solidFill>
              </a:rPr>
              <a:t>→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490608-9DA2-43DD-8CEC-B5DDE7525F8C}"/>
              </a:ext>
            </a:extLst>
          </p:cNvPr>
          <p:cNvSpPr>
            <a:spLocks noGrp="1"/>
          </p:cNvSpPr>
          <p:nvPr/>
        </p:nvSpPr>
        <p:spPr>
          <a:xfrm>
            <a:off x="5162550" y="2857500"/>
            <a:ext cx="1733550" cy="933450"/>
          </a:xfrm>
          <a:prstGeom prst="rect">
            <a:avLst/>
          </a:prstGeom>
          <a:solidFill>
            <a:srgbClr val="F5F5F5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312412C-ED52-41DE-8A59-F644C97E5852}"/>
              </a:ext>
            </a:extLst>
          </p:cNvPr>
          <p:cNvSpPr>
            <a:spLocks noGrp="1"/>
          </p:cNvSpPr>
          <p:nvPr/>
        </p:nvSpPr>
        <p:spPr>
          <a:xfrm>
            <a:off x="5295900" y="3105150"/>
            <a:ext cx="14668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rPr lang="fr-FR" sz="1800" b="1" noProof="0" dirty="0">
                <a:solidFill>
                  <a:srgbClr val="000000"/>
                </a:solidFill>
              </a:rPr>
              <a:t>Inférence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36283C-B31E-4D6F-89BC-21B31B839BE9}"/>
              </a:ext>
            </a:extLst>
          </p:cNvPr>
          <p:cNvSpPr>
            <a:spLocks noGrp="1"/>
          </p:cNvSpPr>
          <p:nvPr/>
        </p:nvSpPr>
        <p:spPr>
          <a:xfrm>
            <a:off x="6953250" y="3143250"/>
            <a:ext cx="4000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400" b="1">
                <a:solidFill>
                  <a:srgbClr val="555555"/>
                </a:solidFill>
              </a:defRPr>
            </a:pPr>
            <a:r>
              <a:rPr lang="fr-FR" sz="2400" b="1" noProof="0" dirty="0">
                <a:solidFill>
                  <a:srgbClr val="555555"/>
                </a:solidFill>
              </a:rPr>
              <a:t>→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104BDEB-B003-4174-BB90-B7CEC16C846C}"/>
              </a:ext>
            </a:extLst>
          </p:cNvPr>
          <p:cNvSpPr>
            <a:spLocks noGrp="1"/>
          </p:cNvSpPr>
          <p:nvPr/>
        </p:nvSpPr>
        <p:spPr>
          <a:xfrm>
            <a:off x="7410450" y="2857500"/>
            <a:ext cx="1733550" cy="933450"/>
          </a:xfrm>
          <a:prstGeom prst="rect">
            <a:avLst/>
          </a:prstGeom>
          <a:solidFill>
            <a:srgbClr val="FFF2EC"/>
          </a:solidFill>
          <a:ln w="9525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5E88C1-A605-4715-B014-F953F31B88BD}"/>
              </a:ext>
            </a:extLst>
          </p:cNvPr>
          <p:cNvSpPr>
            <a:spLocks noGrp="1"/>
          </p:cNvSpPr>
          <p:nvPr/>
        </p:nvSpPr>
        <p:spPr>
          <a:xfrm>
            <a:off x="7543800" y="3105150"/>
            <a:ext cx="14668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FF6B35"/>
                </a:solidFill>
              </a:defRPr>
            </a:pPr>
            <a:r>
              <a:rPr lang="fr-FR" sz="1800" b="1" noProof="0" dirty="0">
                <a:solidFill>
                  <a:srgbClr val="FF6B35"/>
                </a:solidFill>
              </a:rPr>
              <a:t>Restitution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810CAE7-5A77-4C1B-88E6-9580C60D1B39}"/>
              </a:ext>
            </a:extLst>
          </p:cNvPr>
          <p:cNvSpPr>
            <a:spLocks noGrp="1"/>
          </p:cNvSpPr>
          <p:nvPr/>
        </p:nvSpPr>
        <p:spPr>
          <a:xfrm>
            <a:off x="9201150" y="3143250"/>
            <a:ext cx="4000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400" b="1">
                <a:solidFill>
                  <a:srgbClr val="555555"/>
                </a:solidFill>
              </a:defRPr>
            </a:pPr>
            <a:r>
              <a:rPr lang="fr-FR" sz="2400" b="1" noProof="0" dirty="0">
                <a:solidFill>
                  <a:srgbClr val="555555"/>
                </a:solidFill>
              </a:rPr>
              <a:t>→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BA535C-E968-4203-B352-61CDF1E53748}"/>
              </a:ext>
            </a:extLst>
          </p:cNvPr>
          <p:cNvSpPr>
            <a:spLocks noGrp="1"/>
          </p:cNvSpPr>
          <p:nvPr/>
        </p:nvSpPr>
        <p:spPr>
          <a:xfrm>
            <a:off x="9658350" y="2857500"/>
            <a:ext cx="1733550" cy="933450"/>
          </a:xfrm>
          <a:prstGeom prst="rect">
            <a:avLst/>
          </a:prstGeom>
          <a:solidFill>
            <a:srgbClr val="F5F5F5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0F2BF7D-A657-416D-A6F7-A03FE63A5B69}"/>
              </a:ext>
            </a:extLst>
          </p:cNvPr>
          <p:cNvSpPr>
            <a:spLocks noGrp="1"/>
          </p:cNvSpPr>
          <p:nvPr/>
        </p:nvSpPr>
        <p:spPr>
          <a:xfrm>
            <a:off x="9791700" y="3105150"/>
            <a:ext cx="14668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rPr lang="fr-FR" sz="1800" b="1" noProof="0" dirty="0">
                <a:solidFill>
                  <a:srgbClr val="000000"/>
                </a:solidFill>
              </a:rPr>
              <a:t>Monitoring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31FC53D-F58A-46DB-8137-2A1ACDEC64AC}"/>
              </a:ext>
            </a:extLst>
          </p:cNvPr>
          <p:cNvSpPr>
            <a:spLocks noGrp="1"/>
          </p:cNvSpPr>
          <p:nvPr/>
        </p:nvSpPr>
        <p:spPr>
          <a:xfrm>
            <a:off x="742950" y="5086350"/>
            <a:ext cx="11049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000000"/>
                </a:solidFill>
              </a:defRPr>
            </a:pPr>
            <a:r>
              <a:rPr lang="fr-FR" sz="2025" b="1" noProof="0" dirty="0">
                <a:solidFill>
                  <a:srgbClr val="000000"/>
                </a:solidFill>
              </a:rPr>
              <a:t>Contraintes couvertes : batch léger · minimisation RGPD · modèle sobre · explicabilité pour adoption.</a:t>
            </a:r>
          </a:p>
        </p:txBody>
      </p:sp>
    </p:spTree>
    <p:extLst>
      <p:ext uri="{BB962C8B-B14F-4D97-AF65-F5344CB8AC3E}">
        <p14:creationId xmlns:p14="http://schemas.microsoft.com/office/powerpoint/2010/main" val="18011783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6B849E8-FD39-42A5-BBE2-6F1FE9532FCD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555555"/>
                </a:solidFill>
              </a:defRPr>
            </a:pPr>
            <a:r>
              <a:rPr lang="fr-FR" sz="1125" b="1" noProof="0" dirty="0">
                <a:solidFill>
                  <a:srgbClr val="555555"/>
                </a:solidFill>
              </a:rPr>
              <a:t>C9 · Amélioration continue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7FA387E-A175-464A-8C10-18F43A9CBEBF}"/>
              </a:ext>
            </a:extLst>
          </p:cNvPr>
          <p:cNvSpPr>
            <a:spLocks noGrp="1"/>
          </p:cNvSpPr>
          <p:nvPr/>
        </p:nvSpPr>
        <p:spPr>
          <a:xfrm>
            <a:off x="400050" y="819150"/>
            <a:ext cx="113919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00000"/>
                </a:solidFill>
              </a:defRPr>
            </a:pPr>
            <a:r>
              <a:rPr lang="fr-FR" sz="3000" b="1" noProof="0" dirty="0">
                <a:solidFill>
                  <a:srgbClr val="000000"/>
                </a:solidFill>
              </a:rPr>
              <a:t>Le modèle doit être surveillé après son premier déploiement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11F4E9-6139-4E9F-8E32-A192469C9789}"/>
              </a:ext>
            </a:extLst>
          </p:cNvPr>
          <p:cNvSpPr>
            <a:spLocks noGrp="1"/>
          </p:cNvSpPr>
          <p:nvPr/>
        </p:nvSpPr>
        <p:spPr>
          <a:xfrm>
            <a:off x="400050" y="1752600"/>
            <a:ext cx="1139190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3C2C2D-67D2-42A9-8EB7-D02DBD8E69D1}"/>
              </a:ext>
            </a:extLst>
          </p:cNvPr>
          <p:cNvSpPr>
            <a:spLocks noGrp="1"/>
          </p:cNvSpPr>
          <p:nvPr/>
        </p:nvSpPr>
        <p:spPr>
          <a:xfrm>
            <a:off x="400050" y="6362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lang="fr-FR" sz="975" b="0" noProof="0" dirty="0">
                <a:solidFill>
                  <a:srgbClr val="555555"/>
                </a:solidFill>
              </a:rPr>
              <a:t>Soutenance IA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973ED8-92D8-4BAE-820B-4B86EC372009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55555"/>
                </a:solidFill>
              </a:defRPr>
            </a:pPr>
            <a:r>
              <a:rPr lang="fr-FR" sz="1050" b="0" noProof="0" dirty="0">
                <a:solidFill>
                  <a:srgbClr val="555555"/>
                </a:solidFill>
              </a:rPr>
              <a:t>17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6491D8A-FD2A-4E03-BCC6-0E0B12F85621}"/>
              </a:ext>
            </a:extLst>
          </p:cNvPr>
          <p:cNvSpPr>
            <a:spLocks noGrp="1"/>
          </p:cNvSpPr>
          <p:nvPr/>
        </p:nvSpPr>
        <p:spPr>
          <a:xfrm>
            <a:off x="857250" y="2305050"/>
            <a:ext cx="6858000" cy="2857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0">
                <a:solidFill>
                  <a:srgbClr val="202124"/>
                </a:solidFill>
              </a:defRPr>
            </a:pPr>
            <a:r>
              <a:rPr lang="fr-FR" sz="1950" b="0" noProof="0" dirty="0">
                <a:solidFill>
                  <a:srgbClr val="202124"/>
                </a:solidFill>
              </a:rPr>
              <a:t>• Monitoring : drift, AUC, équité, complétude avec seuils d'alerte.</a:t>
            </a:r>
          </a:p>
          <a:p>
            <a:pPr algn="l">
              <a:defRPr sz="1950" b="0">
                <a:solidFill>
                  <a:srgbClr val="202124"/>
                </a:solidFill>
              </a:defRPr>
            </a:pPr>
            <a:r>
              <a:rPr lang="fr-FR" sz="1950" b="0" noProof="0" dirty="0">
                <a:solidFill>
                  <a:srgbClr val="202124"/>
                </a:solidFill>
              </a:rPr>
              <a:t>• </a:t>
            </a:r>
            <a:r>
              <a:rPr lang="fr-FR" sz="1950" b="0" noProof="0" dirty="0" err="1">
                <a:solidFill>
                  <a:srgbClr val="202124"/>
                </a:solidFill>
              </a:rPr>
              <a:t>Ré-entraînement</a:t>
            </a:r>
            <a:r>
              <a:rPr lang="fr-FR" sz="1950" b="0" noProof="0" dirty="0">
                <a:solidFill>
                  <a:srgbClr val="202124"/>
                </a:solidFill>
              </a:rPr>
              <a:t> annuel et événementiel si drift significatif.</a:t>
            </a:r>
          </a:p>
          <a:p>
            <a:pPr algn="l">
              <a:defRPr sz="1950" b="0">
                <a:solidFill>
                  <a:srgbClr val="202124"/>
                </a:solidFill>
              </a:defRPr>
            </a:pPr>
            <a:r>
              <a:rPr lang="fr-FR" sz="1950" b="0" noProof="0" dirty="0">
                <a:solidFill>
                  <a:srgbClr val="202124"/>
                </a:solidFill>
              </a:rPr>
              <a:t>• Versioning des données, du modèle, du seuil et des métriques.</a:t>
            </a:r>
          </a:p>
          <a:p>
            <a:pPr algn="l">
              <a:defRPr sz="1950" b="0">
                <a:solidFill>
                  <a:srgbClr val="202124"/>
                </a:solidFill>
              </a:defRPr>
            </a:pPr>
            <a:r>
              <a:rPr lang="fr-FR" sz="1950" b="0" noProof="0" dirty="0">
                <a:solidFill>
                  <a:srgbClr val="202124"/>
                </a:solidFill>
              </a:rPr>
              <a:t>• A/B test pour mesurer l'impact causal de l'accompagnement.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DC2634-3956-46CF-B908-9D37F2D1C6E9}"/>
              </a:ext>
            </a:extLst>
          </p:cNvPr>
          <p:cNvSpPr>
            <a:spLocks noGrp="1"/>
          </p:cNvSpPr>
          <p:nvPr/>
        </p:nvSpPr>
        <p:spPr>
          <a:xfrm>
            <a:off x="8572500" y="2579748"/>
            <a:ext cx="2190750" cy="2582801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BF4B10-A74B-48E7-AFC6-1411C13E6A94}"/>
              </a:ext>
            </a:extLst>
          </p:cNvPr>
          <p:cNvSpPr>
            <a:spLocks noGrp="1"/>
          </p:cNvSpPr>
          <p:nvPr/>
        </p:nvSpPr>
        <p:spPr>
          <a:xfrm>
            <a:off x="8839200" y="2857500"/>
            <a:ext cx="16573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000000"/>
                </a:solidFill>
              </a:defRPr>
            </a:pPr>
            <a:r>
              <a:rPr lang="fr-FR" sz="2550" b="1" noProof="0" dirty="0">
                <a:solidFill>
                  <a:srgbClr val="000000"/>
                </a:solidFill>
              </a:rPr>
              <a:t>Cycle de vie</a:t>
            </a:r>
          </a:p>
          <a:p>
            <a:pPr algn="ctr">
              <a:defRPr sz="2550" b="1">
                <a:solidFill>
                  <a:srgbClr val="000000"/>
                </a:solidFill>
              </a:defRPr>
            </a:pPr>
            <a:r>
              <a:rPr lang="fr-FR" sz="2550" b="1" noProof="0" dirty="0">
                <a:solidFill>
                  <a:srgbClr val="000000"/>
                </a:solidFill>
              </a:rPr>
              <a:t>pas modèle figé</a:t>
            </a:r>
          </a:p>
        </p:txBody>
      </p:sp>
    </p:spTree>
    <p:extLst>
      <p:ext uri="{BB962C8B-B14F-4D97-AF65-F5344CB8AC3E}">
        <p14:creationId xmlns:p14="http://schemas.microsoft.com/office/powerpoint/2010/main" val="19242399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82EF0D7-FD58-417A-9121-79F1ADD4A93E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555555"/>
                </a:solidFill>
              </a:defRPr>
            </a:pPr>
            <a:r>
              <a:rPr lang="fr-FR" sz="1125" b="1" noProof="0" dirty="0">
                <a:solidFill>
                  <a:srgbClr val="555555"/>
                </a:solidFill>
              </a:rPr>
              <a:t>Limites &amp; recommandations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114BF6-F982-4E0C-BD24-E271064F6BD6}"/>
              </a:ext>
            </a:extLst>
          </p:cNvPr>
          <p:cNvSpPr>
            <a:spLocks noGrp="1"/>
          </p:cNvSpPr>
          <p:nvPr/>
        </p:nvSpPr>
        <p:spPr>
          <a:xfrm>
            <a:off x="400050" y="819150"/>
            <a:ext cx="113919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00000"/>
                </a:solidFill>
              </a:defRPr>
            </a:pPr>
            <a:r>
              <a:rPr lang="fr-FR" sz="3000" b="1" noProof="0" dirty="0">
                <a:solidFill>
                  <a:srgbClr val="000000"/>
                </a:solidFill>
              </a:rPr>
              <a:t>Les limites cadrent la suite plutôt qu'elles ne fragilisent la démarche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6110913-9CD9-43F3-85D9-15D87656A151}"/>
              </a:ext>
            </a:extLst>
          </p:cNvPr>
          <p:cNvSpPr>
            <a:spLocks noGrp="1"/>
          </p:cNvSpPr>
          <p:nvPr/>
        </p:nvSpPr>
        <p:spPr>
          <a:xfrm>
            <a:off x="400050" y="1752600"/>
            <a:ext cx="1139190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B20523-5E55-42AF-9D73-785BDB561FE1}"/>
              </a:ext>
            </a:extLst>
          </p:cNvPr>
          <p:cNvSpPr>
            <a:spLocks noGrp="1"/>
          </p:cNvSpPr>
          <p:nvPr/>
        </p:nvSpPr>
        <p:spPr>
          <a:xfrm>
            <a:off x="400050" y="6362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lang="fr-FR" sz="975" b="0" noProof="0" dirty="0">
                <a:solidFill>
                  <a:srgbClr val="555555"/>
                </a:solidFill>
              </a:rPr>
              <a:t>Soutenance IA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23265F-107D-46CB-B252-1AD853831541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55555"/>
                </a:solidFill>
              </a:defRPr>
            </a:pPr>
            <a:r>
              <a:rPr lang="fr-FR" sz="1050" b="0" noProof="0" dirty="0">
                <a:solidFill>
                  <a:srgbClr val="555555"/>
                </a:solidFill>
              </a:rPr>
              <a:t>18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326702-A6B5-46C5-ABB9-0B2B6BDC08AF}"/>
              </a:ext>
            </a:extLst>
          </p:cNvPr>
          <p:cNvSpPr>
            <a:spLocks noGrp="1"/>
          </p:cNvSpPr>
          <p:nvPr/>
        </p:nvSpPr>
        <p:spPr>
          <a:xfrm>
            <a:off x="952500" y="2381250"/>
            <a:ext cx="8382000" cy="2476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0">
                <a:solidFill>
                  <a:srgbClr val="202124"/>
                </a:solidFill>
              </a:defRPr>
            </a:pPr>
            <a:r>
              <a:rPr lang="fr-FR" sz="2100" b="0" noProof="0" dirty="0">
                <a:solidFill>
                  <a:srgbClr val="202124"/>
                </a:solidFill>
              </a:rPr>
              <a:t>• Données synthétiques : AUC élevée à revalider sur données réelles.</a:t>
            </a:r>
          </a:p>
          <a:p>
            <a:pPr algn="l">
              <a:defRPr sz="2100" b="0">
                <a:solidFill>
                  <a:srgbClr val="202124"/>
                </a:solidFill>
              </a:defRPr>
            </a:pPr>
            <a:r>
              <a:rPr lang="fr-FR" sz="2100" b="0" noProof="0" dirty="0">
                <a:solidFill>
                  <a:srgbClr val="202124"/>
                </a:solidFill>
              </a:rPr>
              <a:t>• Corrélation ≠ causalité : A/B test nécessaire.</a:t>
            </a:r>
          </a:p>
          <a:p>
            <a:pPr algn="l">
              <a:defRPr sz="2100" b="0">
                <a:solidFill>
                  <a:srgbClr val="202124"/>
                </a:solidFill>
              </a:defRPr>
            </a:pPr>
            <a:r>
              <a:rPr lang="fr-FR" sz="2100" b="0" noProof="0" dirty="0">
                <a:solidFill>
                  <a:srgbClr val="202124"/>
                </a:solidFill>
              </a:rPr>
              <a:t>• Équité à surveiller en continu avec le DPO.</a:t>
            </a:r>
          </a:p>
          <a:p>
            <a:pPr algn="l">
              <a:defRPr sz="2100" b="0">
                <a:solidFill>
                  <a:srgbClr val="202124"/>
                </a:solidFill>
              </a:defRPr>
            </a:pPr>
            <a:r>
              <a:rPr lang="fr-FR" sz="2100" b="0" noProof="0" dirty="0">
                <a:solidFill>
                  <a:srgbClr val="202124"/>
                </a:solidFill>
              </a:rPr>
              <a:t>• Le score priorise, il ne décide pas.</a:t>
            </a:r>
          </a:p>
        </p:txBody>
      </p:sp>
    </p:spTree>
    <p:extLst>
      <p:ext uri="{BB962C8B-B14F-4D97-AF65-F5344CB8AC3E}">
        <p14:creationId xmlns:p14="http://schemas.microsoft.com/office/powerpoint/2010/main" val="6103535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BE0A0AA-4607-49EC-A876-75CABD74D82C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555555"/>
                </a:solidFill>
              </a:defRPr>
            </a:pPr>
            <a:r>
              <a:rPr lang="fr-FR" sz="1125" b="1" noProof="0" dirty="0">
                <a:solidFill>
                  <a:srgbClr val="555555"/>
                </a:solidFill>
              </a:rPr>
              <a:t>Conclusion · C1→C9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AB15379-FDCB-47B2-85BA-576023F7F450}"/>
              </a:ext>
            </a:extLst>
          </p:cNvPr>
          <p:cNvSpPr>
            <a:spLocks noGrp="1"/>
          </p:cNvSpPr>
          <p:nvPr/>
        </p:nvSpPr>
        <p:spPr>
          <a:xfrm>
            <a:off x="400050" y="819150"/>
            <a:ext cx="113919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00000"/>
                </a:solidFill>
              </a:defRPr>
            </a:pPr>
            <a:r>
              <a:rPr lang="fr-FR" sz="3000" b="1" noProof="0" dirty="0">
                <a:solidFill>
                  <a:srgbClr val="000000"/>
                </a:solidFill>
              </a:rPr>
              <a:t>Une démarche solide pour accompagner plus tôt les étudiants à risque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C05105E-85AF-460E-9B55-5F0019F4A386}"/>
              </a:ext>
            </a:extLst>
          </p:cNvPr>
          <p:cNvSpPr>
            <a:spLocks noGrp="1"/>
          </p:cNvSpPr>
          <p:nvPr/>
        </p:nvSpPr>
        <p:spPr>
          <a:xfrm>
            <a:off x="400050" y="1752600"/>
            <a:ext cx="1139190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9A02A7-769E-40B6-A5C7-82E342AB119A}"/>
              </a:ext>
            </a:extLst>
          </p:cNvPr>
          <p:cNvSpPr>
            <a:spLocks noGrp="1"/>
          </p:cNvSpPr>
          <p:nvPr/>
        </p:nvSpPr>
        <p:spPr>
          <a:xfrm>
            <a:off x="400050" y="6362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lang="fr-FR" sz="975" b="0" noProof="0" dirty="0">
                <a:solidFill>
                  <a:srgbClr val="555555"/>
                </a:solidFill>
              </a:rPr>
              <a:t>Soutenance IA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FC8B48-A853-4AC4-8B88-0E2C2E581DF5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55555"/>
                </a:solidFill>
              </a:defRPr>
            </a:pPr>
            <a:r>
              <a:rPr lang="fr-FR" sz="1050" b="0" noProof="0" dirty="0">
                <a:solidFill>
                  <a:srgbClr val="555555"/>
                </a:solidFill>
              </a:rPr>
              <a:t>19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E2D37B-6368-49A4-AC0F-E120CE2BD1BF}"/>
              </a:ext>
            </a:extLst>
          </p:cNvPr>
          <p:cNvSpPr>
            <a:spLocks noGrp="1"/>
          </p:cNvSpPr>
          <p:nvPr/>
        </p:nvSpPr>
        <p:spPr>
          <a:xfrm>
            <a:off x="857250" y="2333625"/>
            <a:ext cx="7429500" cy="2762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0">
                <a:solidFill>
                  <a:srgbClr val="202124"/>
                </a:solidFill>
              </a:defRPr>
            </a:pPr>
            <a:r>
              <a:rPr lang="fr-FR" sz="2025" b="0" noProof="0" dirty="0">
                <a:solidFill>
                  <a:srgbClr val="202124"/>
                </a:solidFill>
              </a:rPr>
              <a:t>• Rigueur </a:t>
            </a:r>
            <a:r>
              <a:rPr lang="fr-FR" sz="2025" b="0" noProof="0" dirty="0" err="1">
                <a:solidFill>
                  <a:srgbClr val="202124"/>
                </a:solidFill>
              </a:rPr>
              <a:t>anti-fuite</a:t>
            </a:r>
            <a:r>
              <a:rPr lang="fr-FR" sz="2025" b="0" noProof="0" dirty="0">
                <a:solidFill>
                  <a:srgbClr val="202124"/>
                </a:solidFill>
              </a:rPr>
              <a:t> : pièges neutralisés et garde-fou codé.</a:t>
            </a:r>
          </a:p>
          <a:p>
            <a:pPr algn="l">
              <a:defRPr sz="2025" b="0">
                <a:solidFill>
                  <a:srgbClr val="202124"/>
                </a:solidFill>
              </a:defRPr>
            </a:pPr>
            <a:r>
              <a:rPr lang="fr-FR" sz="2025" b="0" noProof="0" dirty="0">
                <a:solidFill>
                  <a:srgbClr val="202124"/>
                </a:solidFill>
              </a:rPr>
              <a:t>• Modèle explicable : AUC 0,95 et rappel 96 % au seuil métier.</a:t>
            </a:r>
          </a:p>
          <a:p>
            <a:pPr algn="l">
              <a:defRPr sz="2025" b="0">
                <a:solidFill>
                  <a:srgbClr val="202124"/>
                </a:solidFill>
              </a:defRPr>
            </a:pPr>
            <a:r>
              <a:rPr lang="fr-FR" sz="2025" b="0" noProof="0" dirty="0">
                <a:solidFill>
                  <a:srgbClr val="202124"/>
                </a:solidFill>
              </a:rPr>
              <a:t>• Industrialisation pensée : </a:t>
            </a:r>
            <a:r>
              <a:rPr lang="fr-FR" sz="2025" b="0" noProof="0" dirty="0" err="1">
                <a:solidFill>
                  <a:srgbClr val="202124"/>
                </a:solidFill>
              </a:rPr>
              <a:t>serving</a:t>
            </a:r>
            <a:r>
              <a:rPr lang="fr-FR" sz="2025" b="0" noProof="0" dirty="0">
                <a:solidFill>
                  <a:srgbClr val="202124"/>
                </a:solidFill>
              </a:rPr>
              <a:t>, architecture, monitoring.</a:t>
            </a:r>
          </a:p>
          <a:p>
            <a:pPr algn="l">
              <a:defRPr sz="2025" b="0">
                <a:solidFill>
                  <a:srgbClr val="202124"/>
                </a:solidFill>
              </a:defRPr>
            </a:pPr>
            <a:r>
              <a:rPr lang="fr-FR" sz="2025" b="0" noProof="0" dirty="0">
                <a:solidFill>
                  <a:srgbClr val="202124"/>
                </a:solidFill>
              </a:rPr>
              <a:t>• Éthique by design : équité, RGPD, décision humaine.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53FB8B-AD7D-44F6-B12A-6E1DF5B4B651}"/>
              </a:ext>
            </a:extLst>
          </p:cNvPr>
          <p:cNvSpPr>
            <a:spLocks noGrp="1"/>
          </p:cNvSpPr>
          <p:nvPr/>
        </p:nvSpPr>
        <p:spPr>
          <a:xfrm>
            <a:off x="8572500" y="2552700"/>
            <a:ext cx="2762250" cy="116852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3150" b="1">
                <a:solidFill>
                  <a:srgbClr val="FF6B35"/>
                </a:solidFill>
              </a:defRPr>
            </a:pPr>
            <a:r>
              <a:rPr lang="fr-FR" sz="3150" b="1" noProof="0" dirty="0">
                <a:solidFill>
                  <a:srgbClr val="FF6B35"/>
                </a:solidFill>
              </a:rPr>
              <a:t>Merci</a:t>
            </a:r>
          </a:p>
          <a:p>
            <a:pPr algn="ctr">
              <a:defRPr sz="3150" b="1">
                <a:solidFill>
                  <a:srgbClr val="FF6B35"/>
                </a:solidFill>
              </a:defRPr>
            </a:pPr>
            <a:r>
              <a:rPr lang="fr-FR" sz="3150" b="1" noProof="0" dirty="0">
                <a:solidFill>
                  <a:srgbClr val="FF6B35"/>
                </a:solidFill>
              </a:rPr>
              <a:t>vos questions ?</a:t>
            </a:r>
          </a:p>
        </p:txBody>
      </p:sp>
    </p:spTree>
    <p:extLst>
      <p:ext uri="{BB962C8B-B14F-4D97-AF65-F5344CB8AC3E}">
        <p14:creationId xmlns:p14="http://schemas.microsoft.com/office/powerpoint/2010/main" val="19150090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B7D83AA-00E2-4B13-B5B7-B993CA32562C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555555"/>
                </a:solidFill>
              </a:defRPr>
            </a:pPr>
            <a:r>
              <a:rPr lang="fr-FR" sz="1125" b="1" noProof="0" dirty="0">
                <a:solidFill>
                  <a:srgbClr val="555555"/>
                </a:solidFill>
              </a:rPr>
              <a:t>Backup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2E6538-4160-450A-9CA7-EFE2E4F9D861}"/>
              </a:ext>
            </a:extLst>
          </p:cNvPr>
          <p:cNvSpPr>
            <a:spLocks noGrp="1"/>
          </p:cNvSpPr>
          <p:nvPr/>
        </p:nvSpPr>
        <p:spPr>
          <a:xfrm>
            <a:off x="400050" y="819150"/>
            <a:ext cx="8572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00000"/>
                </a:solidFill>
              </a:defRPr>
            </a:pPr>
            <a:r>
              <a:rPr lang="fr-FR" sz="3000" b="1" noProof="0" dirty="0">
                <a:solidFill>
                  <a:srgbClr val="000000"/>
                </a:solidFill>
              </a:rPr>
              <a:t>Questions probables du jury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FCDF9E6-7FCF-4D30-A791-DAE8744620EC}"/>
              </a:ext>
            </a:extLst>
          </p:cNvPr>
          <p:cNvSpPr>
            <a:spLocks noGrp="1"/>
          </p:cNvSpPr>
          <p:nvPr/>
        </p:nvSpPr>
        <p:spPr>
          <a:xfrm>
            <a:off x="400050" y="1752600"/>
            <a:ext cx="1139190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CB2340C-1EFE-4D2F-9FC1-10B3A89BBB4E}"/>
              </a:ext>
            </a:extLst>
          </p:cNvPr>
          <p:cNvSpPr>
            <a:spLocks noGrp="1"/>
          </p:cNvSpPr>
          <p:nvPr/>
        </p:nvSpPr>
        <p:spPr>
          <a:xfrm>
            <a:off x="400050" y="6362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555555"/>
                </a:solidFill>
              </a:defRPr>
            </a:pPr>
            <a:r>
              <a:rPr lang="fr-FR" sz="975" b="0" noProof="0" dirty="0">
                <a:solidFill>
                  <a:srgbClr val="555555"/>
                </a:solidFill>
              </a:rPr>
              <a:t>Soutenance IA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DA1DDA7-0DC8-4F10-AA51-D4EA828E8361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552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55555"/>
                </a:solidFill>
              </a:defRPr>
            </a:pPr>
            <a:r>
              <a:rPr lang="fr-FR" sz="1050" b="0" noProof="0" dirty="0">
                <a:solidFill>
                  <a:srgbClr val="555555"/>
                </a:solidFill>
              </a:rPr>
              <a:t>20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D91884-96A6-4D9B-96A5-BB78F888A7F4}"/>
              </a:ext>
            </a:extLst>
          </p:cNvPr>
          <p:cNvSpPr>
            <a:spLocks noGrp="1"/>
          </p:cNvSpPr>
          <p:nvPr/>
        </p:nvSpPr>
        <p:spPr>
          <a:xfrm>
            <a:off x="857250" y="2190750"/>
            <a:ext cx="9810750" cy="3429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202124"/>
                </a:solidFill>
              </a:defRPr>
            </a:pPr>
            <a:r>
              <a:rPr lang="fr-FR" sz="1800" b="0" noProof="0" dirty="0">
                <a:solidFill>
                  <a:srgbClr val="202124"/>
                </a:solidFill>
              </a:rPr>
              <a:t>• Fuites : 3 pièges + </a:t>
            </a:r>
            <a:r>
              <a:rPr lang="fr-FR" sz="1800" b="0" noProof="0" dirty="0" err="1">
                <a:solidFill>
                  <a:srgbClr val="202124"/>
                </a:solidFill>
              </a:rPr>
              <a:t>assert_no_leakage</a:t>
            </a:r>
            <a:r>
              <a:rPr lang="fr-FR" sz="1800" b="0" noProof="0" dirty="0">
                <a:solidFill>
                  <a:srgbClr val="202124"/>
                </a:solidFill>
              </a:rPr>
              <a:t> + périmètre codé.</a:t>
            </a:r>
          </a:p>
          <a:p>
            <a:pPr algn="l">
              <a:defRPr sz="1800" b="0">
                <a:solidFill>
                  <a:srgbClr val="202124"/>
                </a:solidFill>
              </a:defRPr>
            </a:pPr>
            <a:r>
              <a:rPr lang="fr-FR" sz="1800" b="0" noProof="0" dirty="0">
                <a:solidFill>
                  <a:srgbClr val="202124"/>
                </a:solidFill>
              </a:rPr>
              <a:t>• AUC 0,95 : verrou </a:t>
            </a:r>
            <a:r>
              <a:rPr lang="fr-FR" sz="1800" b="0" noProof="0" dirty="0" err="1">
                <a:solidFill>
                  <a:srgbClr val="202124"/>
                </a:solidFill>
              </a:rPr>
              <a:t>anti-fuite</a:t>
            </a:r>
            <a:r>
              <a:rPr lang="fr-FR" sz="1800" b="0" noProof="0" dirty="0">
                <a:solidFill>
                  <a:srgbClr val="202124"/>
                </a:solidFill>
              </a:rPr>
              <a:t>, données synthétiques, revalidation requise.</a:t>
            </a:r>
          </a:p>
          <a:p>
            <a:pPr algn="l">
              <a:defRPr sz="1800" b="0">
                <a:solidFill>
                  <a:srgbClr val="202124"/>
                </a:solidFill>
              </a:defRPr>
            </a:pPr>
            <a:r>
              <a:rPr lang="fr-FR" sz="1800" b="0" noProof="0" dirty="0">
                <a:solidFill>
                  <a:srgbClr val="202124"/>
                </a:solidFill>
              </a:rPr>
              <a:t>• </a:t>
            </a:r>
            <a:r>
              <a:rPr lang="fr-FR" sz="1800" b="0" noProof="0" dirty="0" err="1">
                <a:solidFill>
                  <a:srgbClr val="202124"/>
                </a:solidFill>
              </a:rPr>
              <a:t>LogReg</a:t>
            </a:r>
            <a:r>
              <a:rPr lang="fr-FR" sz="1800" b="0" noProof="0" dirty="0">
                <a:solidFill>
                  <a:srgbClr val="202124"/>
                </a:solidFill>
              </a:rPr>
              <a:t> : même AUC que modèles complexes, plus explicable et sobre.</a:t>
            </a:r>
          </a:p>
          <a:p>
            <a:pPr algn="l">
              <a:defRPr sz="1800" b="0">
                <a:solidFill>
                  <a:srgbClr val="202124"/>
                </a:solidFill>
              </a:defRPr>
            </a:pPr>
            <a:r>
              <a:rPr lang="fr-FR" sz="1800" b="0" noProof="0" dirty="0">
                <a:solidFill>
                  <a:srgbClr val="202124"/>
                </a:solidFill>
              </a:rPr>
              <a:t>• Seuil : minimisation du coût métier, FN beaucoup plus coûteux que FP.</a:t>
            </a:r>
          </a:p>
          <a:p>
            <a:pPr algn="l">
              <a:defRPr sz="1800" b="0">
                <a:solidFill>
                  <a:srgbClr val="202124"/>
                </a:solidFill>
              </a:defRPr>
            </a:pPr>
            <a:r>
              <a:rPr lang="fr-FR" sz="1800" b="0" noProof="0" dirty="0">
                <a:solidFill>
                  <a:srgbClr val="202124"/>
                </a:solidFill>
              </a:rPr>
              <a:t>• Équité / RGPD : audit sous-groupes, décision humaine, minimisation.</a:t>
            </a:r>
          </a:p>
          <a:p>
            <a:pPr algn="l">
              <a:defRPr sz="1800" b="0">
                <a:solidFill>
                  <a:srgbClr val="202124"/>
                </a:solidFill>
              </a:defRPr>
            </a:pPr>
            <a:r>
              <a:rPr lang="fr-FR" sz="1800" b="0" noProof="0" dirty="0">
                <a:solidFill>
                  <a:srgbClr val="202124"/>
                </a:solidFill>
              </a:rPr>
              <a:t>• Drift : monitoring PSI/KS et </a:t>
            </a:r>
            <a:r>
              <a:rPr lang="fr-FR" sz="1800" b="0" noProof="0" dirty="0" err="1">
                <a:solidFill>
                  <a:srgbClr val="202124"/>
                </a:solidFill>
              </a:rPr>
              <a:t>ré-entraînement</a:t>
            </a:r>
            <a:r>
              <a:rPr lang="fr-FR" sz="1800" b="0" noProof="0" dirty="0">
                <a:solidFill>
                  <a:srgbClr val="202124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1138924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2115</Words>
  <Application>Microsoft Office PowerPoint</Application>
  <DocSecurity>0</DocSecurity>
  <PresentationFormat>Grand écran</PresentationFormat>
  <Paragraphs>245</Paragraphs>
  <Slides>20</Slides>
  <Notes>20</Notes>
  <HiddenSlides>0</HiddenSlides>
  <MMClips>0</MMClips>
  <ScaleCrop>false</ScaleCrop>
  <HeadingPairs>
    <vt:vector size="6" baseType="variant">
      <vt:variant>
        <vt:lpstr>Polices utilisées</vt:lpstr>
      </vt:variant>
      <vt:variant>
        <vt:i4>1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2" baseType="lpstr">
      <vt:lpstr>Calibri</vt:lpstr>
      <vt:lpstr>ChatGPT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Michael STAUDT</cp:lastModifiedBy>
  <cp:revision>5</cp:revision>
  <dcterms:created xsi:type="dcterms:W3CDTF">2026-07-08T16:25:22Z</dcterms:created>
  <dcterms:modified xsi:type="dcterms:W3CDTF">2026-07-09T09:12:34Z</dcterms:modified>
</cp:coreProperties>
</file>